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356" r:id="rId5"/>
    <p:sldId id="357" r:id="rId6"/>
    <p:sldId id="358" r:id="rId7"/>
    <p:sldId id="452" r:id="rId8"/>
    <p:sldId id="359" r:id="rId9"/>
    <p:sldId id="453" r:id="rId10"/>
    <p:sldId id="454" r:id="rId11"/>
    <p:sldId id="455" r:id="rId12"/>
    <p:sldId id="364" r:id="rId13"/>
    <p:sldId id="427" r:id="rId14"/>
    <p:sldId id="366" r:id="rId15"/>
    <p:sldId id="367" r:id="rId16"/>
    <p:sldId id="368" r:id="rId17"/>
    <p:sldId id="456" r:id="rId18"/>
    <p:sldId id="457" r:id="rId19"/>
    <p:sldId id="458" r:id="rId20"/>
    <p:sldId id="459" r:id="rId21"/>
    <p:sldId id="460" r:id="rId22"/>
    <p:sldId id="461" r:id="rId23"/>
    <p:sldId id="375" r:id="rId24"/>
    <p:sldId id="3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E36FA3-A724-F947-DF6F-8B47597F4207}" v="147" dt="2024-10-22T16:06:06.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220BAC-B53D-4273-A59C-73E59354E26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1AF412C-8AB3-41CC-8DB7-AD21E19CC8E2}">
      <dgm:prSet/>
      <dgm:spPr/>
      <dgm:t>
        <a:bodyPr/>
        <a:lstStyle/>
        <a:p>
          <a:pPr>
            <a:lnSpc>
              <a:spcPct val="100000"/>
            </a:lnSpc>
          </a:pPr>
          <a:r>
            <a:rPr lang="en-GB" b="1" dirty="0">
              <a:solidFill>
                <a:srgbClr val="063532"/>
              </a:solidFill>
              <a:latin typeface="Arial" panose="020B0604020202020204" pitchFamily="34" charset="0"/>
              <a:cs typeface="Arial" panose="020B0604020202020204" pitchFamily="34" charset="0"/>
            </a:rPr>
            <a:t>Context:</a:t>
          </a:r>
          <a:r>
            <a:rPr lang="en-GB" dirty="0">
              <a:solidFill>
                <a:srgbClr val="063532"/>
              </a:solidFill>
              <a:latin typeface="Arial" panose="020B0604020202020204" pitchFamily="34" charset="0"/>
              <a:cs typeface="Arial" panose="020B0604020202020204" pitchFamily="34" charset="0"/>
            </a:rPr>
            <a:t> A leading bank has received feedback that its mobile banking app is difficult to use, leading to customer frustration and increased support calls.</a:t>
          </a:r>
          <a:endParaRPr lang="en-US" dirty="0">
            <a:solidFill>
              <a:srgbClr val="063532"/>
            </a:solidFill>
            <a:latin typeface="Arial" panose="020B0604020202020204" pitchFamily="34" charset="0"/>
            <a:cs typeface="Arial" panose="020B0604020202020204" pitchFamily="34" charset="0"/>
          </a:endParaRPr>
        </a:p>
      </dgm:t>
    </dgm:pt>
    <dgm:pt modelId="{DEF0389B-A7A9-4C43-9ECE-A922E3D805C9}" type="parTrans" cxnId="{37FCADCA-0872-4CBE-BEA8-A7ED524E33A4}">
      <dgm:prSet/>
      <dgm:spPr/>
      <dgm:t>
        <a:bodyPr/>
        <a:lstStyle/>
        <a:p>
          <a:endParaRPr lang="en-US"/>
        </a:p>
      </dgm:t>
    </dgm:pt>
    <dgm:pt modelId="{BA41947E-19BE-491A-A82D-6DB7210F78A4}" type="sibTrans" cxnId="{37FCADCA-0872-4CBE-BEA8-A7ED524E33A4}">
      <dgm:prSet/>
      <dgm:spPr/>
      <dgm:t>
        <a:bodyPr/>
        <a:lstStyle/>
        <a:p>
          <a:endParaRPr lang="en-US"/>
        </a:p>
      </dgm:t>
    </dgm:pt>
    <dgm:pt modelId="{EB0605F6-F8D2-4FD4-AB38-0F55E6E56D08}">
      <dgm:prSet/>
      <dgm:spPr/>
      <dgm:t>
        <a:bodyPr/>
        <a:lstStyle/>
        <a:p>
          <a:pPr>
            <a:lnSpc>
              <a:spcPct val="100000"/>
            </a:lnSpc>
          </a:pPr>
          <a:r>
            <a:rPr lang="en-GB" b="1" dirty="0">
              <a:solidFill>
                <a:srgbClr val="063532"/>
              </a:solidFill>
              <a:latin typeface="Arial" panose="020B0604020202020204" pitchFamily="34" charset="0"/>
              <a:cs typeface="Arial" panose="020B0604020202020204" pitchFamily="34" charset="0"/>
            </a:rPr>
            <a:t>Goal:</a:t>
          </a:r>
          <a:r>
            <a:rPr lang="en-GB" dirty="0">
              <a:solidFill>
                <a:srgbClr val="063532"/>
              </a:solidFill>
              <a:latin typeface="Arial" panose="020B0604020202020204" pitchFamily="34" charset="0"/>
              <a:cs typeface="Arial" panose="020B0604020202020204" pitchFamily="34" charset="0"/>
            </a:rPr>
            <a:t> Improve the user experience to increase customer satisfaction and reduce support calls.</a:t>
          </a:r>
          <a:endParaRPr lang="en-US" dirty="0">
            <a:solidFill>
              <a:srgbClr val="063532"/>
            </a:solidFill>
            <a:latin typeface="Arial" panose="020B0604020202020204" pitchFamily="34" charset="0"/>
            <a:cs typeface="Arial" panose="020B0604020202020204" pitchFamily="34" charset="0"/>
          </a:endParaRPr>
        </a:p>
      </dgm:t>
    </dgm:pt>
    <dgm:pt modelId="{5D8CF0F0-B22D-44A2-A897-4BCC9D0DA488}" type="parTrans" cxnId="{192D47C3-564C-44DE-ADCE-126495E45596}">
      <dgm:prSet/>
      <dgm:spPr/>
      <dgm:t>
        <a:bodyPr/>
        <a:lstStyle/>
        <a:p>
          <a:endParaRPr lang="en-US"/>
        </a:p>
      </dgm:t>
    </dgm:pt>
    <dgm:pt modelId="{3AE779BB-1AF6-4B1F-98E9-4FF1F7D9EBFE}" type="sibTrans" cxnId="{192D47C3-564C-44DE-ADCE-126495E45596}">
      <dgm:prSet/>
      <dgm:spPr/>
      <dgm:t>
        <a:bodyPr/>
        <a:lstStyle/>
        <a:p>
          <a:endParaRPr lang="en-US"/>
        </a:p>
      </dgm:t>
    </dgm:pt>
    <dgm:pt modelId="{C36B0B0A-4164-47B5-9EEE-36A0C6FA1273}">
      <dgm:prSet/>
      <dgm:spPr/>
      <dgm:t>
        <a:bodyPr/>
        <a:lstStyle/>
        <a:p>
          <a:pPr>
            <a:lnSpc>
              <a:spcPct val="100000"/>
            </a:lnSpc>
          </a:pPr>
          <a:r>
            <a:rPr lang="en-GB" b="1" dirty="0">
              <a:solidFill>
                <a:srgbClr val="063532"/>
              </a:solidFill>
              <a:latin typeface="Arial" panose="020B0604020202020204" pitchFamily="34" charset="0"/>
              <a:cs typeface="Arial" panose="020B0604020202020204" pitchFamily="34" charset="0"/>
            </a:rPr>
            <a:t>Key Areas to Focus:</a:t>
          </a:r>
          <a:r>
            <a:rPr lang="en-GB" dirty="0">
              <a:solidFill>
                <a:srgbClr val="063532"/>
              </a:solidFill>
              <a:latin typeface="Arial" panose="020B0604020202020204" pitchFamily="34" charset="0"/>
              <a:cs typeface="Arial" panose="020B0604020202020204" pitchFamily="34" charset="0"/>
            </a:rPr>
            <a:t> Simplify navigation. Streamline transaction processes. Enhance security features visibility.</a:t>
          </a:r>
          <a:endParaRPr lang="en-US" dirty="0">
            <a:solidFill>
              <a:srgbClr val="063532"/>
            </a:solidFill>
            <a:latin typeface="Arial" panose="020B0604020202020204" pitchFamily="34" charset="0"/>
            <a:cs typeface="Arial" panose="020B0604020202020204" pitchFamily="34" charset="0"/>
          </a:endParaRPr>
        </a:p>
      </dgm:t>
    </dgm:pt>
    <dgm:pt modelId="{A0559797-0D79-4A2E-BF94-4FDE8DA34E8B}" type="parTrans" cxnId="{F072DEA4-33EE-408C-B41C-5EC7FB2B7856}">
      <dgm:prSet/>
      <dgm:spPr/>
      <dgm:t>
        <a:bodyPr/>
        <a:lstStyle/>
        <a:p>
          <a:endParaRPr lang="en-US"/>
        </a:p>
      </dgm:t>
    </dgm:pt>
    <dgm:pt modelId="{94F4F461-B99B-42C2-A799-847369C467F7}" type="sibTrans" cxnId="{F072DEA4-33EE-408C-B41C-5EC7FB2B7856}">
      <dgm:prSet/>
      <dgm:spPr/>
      <dgm:t>
        <a:bodyPr/>
        <a:lstStyle/>
        <a:p>
          <a:endParaRPr lang="en-US"/>
        </a:p>
      </dgm:t>
    </dgm:pt>
    <dgm:pt modelId="{A3E0A4F0-46FF-46AF-8983-4B66E300E632}" type="pres">
      <dgm:prSet presAssocID="{F7220BAC-B53D-4273-A59C-73E59354E263}" presName="root" presStyleCnt="0">
        <dgm:presLayoutVars>
          <dgm:dir/>
          <dgm:resizeHandles val="exact"/>
        </dgm:presLayoutVars>
      </dgm:prSet>
      <dgm:spPr/>
    </dgm:pt>
    <dgm:pt modelId="{0BC2B1E0-241E-42BE-A4B0-8D377684814A}" type="pres">
      <dgm:prSet presAssocID="{C1AF412C-8AB3-41CC-8DB7-AD21E19CC8E2}" presName="compNode" presStyleCnt="0"/>
      <dgm:spPr/>
    </dgm:pt>
    <dgm:pt modelId="{3FE18736-1525-48D9-B8BB-CF8B35257E26}" type="pres">
      <dgm:prSet presAssocID="{C1AF412C-8AB3-41CC-8DB7-AD21E19CC8E2}" presName="bgRect" presStyleLbl="bgShp" presStyleIdx="0" presStyleCnt="3"/>
      <dgm:spPr/>
    </dgm:pt>
    <dgm:pt modelId="{85641FBA-7511-4707-B1BC-F3350387D001}" type="pres">
      <dgm:prSet presAssocID="{C1AF412C-8AB3-41CC-8DB7-AD21E19CC8E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609BED2B-C55C-4092-B11A-A233E5516D3E}" type="pres">
      <dgm:prSet presAssocID="{C1AF412C-8AB3-41CC-8DB7-AD21E19CC8E2}" presName="spaceRect" presStyleCnt="0"/>
      <dgm:spPr/>
    </dgm:pt>
    <dgm:pt modelId="{46F17609-0B81-4316-A872-F4B4FFEC905B}" type="pres">
      <dgm:prSet presAssocID="{C1AF412C-8AB3-41CC-8DB7-AD21E19CC8E2}" presName="parTx" presStyleLbl="revTx" presStyleIdx="0" presStyleCnt="3">
        <dgm:presLayoutVars>
          <dgm:chMax val="0"/>
          <dgm:chPref val="0"/>
        </dgm:presLayoutVars>
      </dgm:prSet>
      <dgm:spPr/>
    </dgm:pt>
    <dgm:pt modelId="{D1448B1D-AB42-4E2F-A445-BA97DCC3CAE8}" type="pres">
      <dgm:prSet presAssocID="{BA41947E-19BE-491A-A82D-6DB7210F78A4}" presName="sibTrans" presStyleCnt="0"/>
      <dgm:spPr/>
    </dgm:pt>
    <dgm:pt modelId="{DB2966CF-19AD-4E8E-A1B2-E6E5E1D6112E}" type="pres">
      <dgm:prSet presAssocID="{EB0605F6-F8D2-4FD4-AB38-0F55E6E56D08}" presName="compNode" presStyleCnt="0"/>
      <dgm:spPr/>
    </dgm:pt>
    <dgm:pt modelId="{F245ABA6-7416-4C30-B16A-E47836527F7A}" type="pres">
      <dgm:prSet presAssocID="{EB0605F6-F8D2-4FD4-AB38-0F55E6E56D08}" presName="bgRect" presStyleLbl="bgShp" presStyleIdx="1" presStyleCnt="3"/>
      <dgm:spPr/>
    </dgm:pt>
    <dgm:pt modelId="{549BC21A-503F-4BB9-A8AC-A70ADD7E971B}" type="pres">
      <dgm:prSet presAssocID="{EB0605F6-F8D2-4FD4-AB38-0F55E6E56D0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l center"/>
        </a:ext>
      </dgm:extLst>
    </dgm:pt>
    <dgm:pt modelId="{A16A62F1-3C07-479B-B719-663AD62C877B}" type="pres">
      <dgm:prSet presAssocID="{EB0605F6-F8D2-4FD4-AB38-0F55E6E56D08}" presName="spaceRect" presStyleCnt="0"/>
      <dgm:spPr/>
    </dgm:pt>
    <dgm:pt modelId="{9EDF7F3F-39CC-45BC-B3BE-95BA58BAAC73}" type="pres">
      <dgm:prSet presAssocID="{EB0605F6-F8D2-4FD4-AB38-0F55E6E56D08}" presName="parTx" presStyleLbl="revTx" presStyleIdx="1" presStyleCnt="3">
        <dgm:presLayoutVars>
          <dgm:chMax val="0"/>
          <dgm:chPref val="0"/>
        </dgm:presLayoutVars>
      </dgm:prSet>
      <dgm:spPr/>
    </dgm:pt>
    <dgm:pt modelId="{D9B833C9-EA73-4F0F-9A79-63B37FA5778D}" type="pres">
      <dgm:prSet presAssocID="{3AE779BB-1AF6-4B1F-98E9-4FF1F7D9EBFE}" presName="sibTrans" presStyleCnt="0"/>
      <dgm:spPr/>
    </dgm:pt>
    <dgm:pt modelId="{F637AAF4-31AE-4525-BE4F-66DD1CE4A3FB}" type="pres">
      <dgm:prSet presAssocID="{C36B0B0A-4164-47B5-9EEE-36A0C6FA1273}" presName="compNode" presStyleCnt="0"/>
      <dgm:spPr/>
    </dgm:pt>
    <dgm:pt modelId="{0968DCEF-ADD8-450C-A0C4-9A0754026A9A}" type="pres">
      <dgm:prSet presAssocID="{C36B0B0A-4164-47B5-9EEE-36A0C6FA1273}" presName="bgRect" presStyleLbl="bgShp" presStyleIdx="2" presStyleCnt="3"/>
      <dgm:spPr/>
    </dgm:pt>
    <dgm:pt modelId="{73660C00-099E-4FE9-904C-4A88C2B52FDB}" type="pres">
      <dgm:prSet presAssocID="{C36B0B0A-4164-47B5-9EEE-36A0C6FA127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ey"/>
        </a:ext>
      </dgm:extLst>
    </dgm:pt>
    <dgm:pt modelId="{8876814C-AE5B-49CD-A3C2-03EA0281ED47}" type="pres">
      <dgm:prSet presAssocID="{C36B0B0A-4164-47B5-9EEE-36A0C6FA1273}" presName="spaceRect" presStyleCnt="0"/>
      <dgm:spPr/>
    </dgm:pt>
    <dgm:pt modelId="{CA46BBFC-698A-4BED-8979-6132E353D358}" type="pres">
      <dgm:prSet presAssocID="{C36B0B0A-4164-47B5-9EEE-36A0C6FA1273}" presName="parTx" presStyleLbl="revTx" presStyleIdx="2" presStyleCnt="3">
        <dgm:presLayoutVars>
          <dgm:chMax val="0"/>
          <dgm:chPref val="0"/>
        </dgm:presLayoutVars>
      </dgm:prSet>
      <dgm:spPr/>
    </dgm:pt>
  </dgm:ptLst>
  <dgm:cxnLst>
    <dgm:cxn modelId="{0EA9436C-DA2C-4F56-8CC1-4E41344409ED}" type="presOf" srcId="{C1AF412C-8AB3-41CC-8DB7-AD21E19CC8E2}" destId="{46F17609-0B81-4316-A872-F4B4FFEC905B}" srcOrd="0" destOrd="0" presId="urn:microsoft.com/office/officeart/2018/2/layout/IconVerticalSolidList"/>
    <dgm:cxn modelId="{72134573-17E8-44EC-B63B-8B6E8A687A1A}" type="presOf" srcId="{C36B0B0A-4164-47B5-9EEE-36A0C6FA1273}" destId="{CA46BBFC-698A-4BED-8979-6132E353D358}" srcOrd="0" destOrd="0" presId="urn:microsoft.com/office/officeart/2018/2/layout/IconVerticalSolidList"/>
    <dgm:cxn modelId="{31F8C076-6A7D-409D-AE5A-0987A509F246}" type="presOf" srcId="{F7220BAC-B53D-4273-A59C-73E59354E263}" destId="{A3E0A4F0-46FF-46AF-8983-4B66E300E632}" srcOrd="0" destOrd="0" presId="urn:microsoft.com/office/officeart/2018/2/layout/IconVerticalSolidList"/>
    <dgm:cxn modelId="{919E0FA4-FC7D-40BC-BE45-32768E7E0752}" type="presOf" srcId="{EB0605F6-F8D2-4FD4-AB38-0F55E6E56D08}" destId="{9EDF7F3F-39CC-45BC-B3BE-95BA58BAAC73}" srcOrd="0" destOrd="0" presId="urn:microsoft.com/office/officeart/2018/2/layout/IconVerticalSolidList"/>
    <dgm:cxn modelId="{F072DEA4-33EE-408C-B41C-5EC7FB2B7856}" srcId="{F7220BAC-B53D-4273-A59C-73E59354E263}" destId="{C36B0B0A-4164-47B5-9EEE-36A0C6FA1273}" srcOrd="2" destOrd="0" parTransId="{A0559797-0D79-4A2E-BF94-4FDE8DA34E8B}" sibTransId="{94F4F461-B99B-42C2-A799-847369C467F7}"/>
    <dgm:cxn modelId="{192D47C3-564C-44DE-ADCE-126495E45596}" srcId="{F7220BAC-B53D-4273-A59C-73E59354E263}" destId="{EB0605F6-F8D2-4FD4-AB38-0F55E6E56D08}" srcOrd="1" destOrd="0" parTransId="{5D8CF0F0-B22D-44A2-A897-4BCC9D0DA488}" sibTransId="{3AE779BB-1AF6-4B1F-98E9-4FF1F7D9EBFE}"/>
    <dgm:cxn modelId="{37FCADCA-0872-4CBE-BEA8-A7ED524E33A4}" srcId="{F7220BAC-B53D-4273-A59C-73E59354E263}" destId="{C1AF412C-8AB3-41CC-8DB7-AD21E19CC8E2}" srcOrd="0" destOrd="0" parTransId="{DEF0389B-A7A9-4C43-9ECE-A922E3D805C9}" sibTransId="{BA41947E-19BE-491A-A82D-6DB7210F78A4}"/>
    <dgm:cxn modelId="{2BD75903-04B1-4282-BF66-5481B44E4B21}" type="presParOf" srcId="{A3E0A4F0-46FF-46AF-8983-4B66E300E632}" destId="{0BC2B1E0-241E-42BE-A4B0-8D377684814A}" srcOrd="0" destOrd="0" presId="urn:microsoft.com/office/officeart/2018/2/layout/IconVerticalSolidList"/>
    <dgm:cxn modelId="{C8A49278-7DCF-4E39-B937-E820E44EEC7D}" type="presParOf" srcId="{0BC2B1E0-241E-42BE-A4B0-8D377684814A}" destId="{3FE18736-1525-48D9-B8BB-CF8B35257E26}" srcOrd="0" destOrd="0" presId="urn:microsoft.com/office/officeart/2018/2/layout/IconVerticalSolidList"/>
    <dgm:cxn modelId="{DEFD7616-0DB3-4A6A-9FDA-D722B24EC0BC}" type="presParOf" srcId="{0BC2B1E0-241E-42BE-A4B0-8D377684814A}" destId="{85641FBA-7511-4707-B1BC-F3350387D001}" srcOrd="1" destOrd="0" presId="urn:microsoft.com/office/officeart/2018/2/layout/IconVerticalSolidList"/>
    <dgm:cxn modelId="{DB74771A-2E7B-4072-84F4-08EDB4F3B99D}" type="presParOf" srcId="{0BC2B1E0-241E-42BE-A4B0-8D377684814A}" destId="{609BED2B-C55C-4092-B11A-A233E5516D3E}" srcOrd="2" destOrd="0" presId="urn:microsoft.com/office/officeart/2018/2/layout/IconVerticalSolidList"/>
    <dgm:cxn modelId="{BA6DA43D-5831-4D7A-8A93-97F3D6BEE078}" type="presParOf" srcId="{0BC2B1E0-241E-42BE-A4B0-8D377684814A}" destId="{46F17609-0B81-4316-A872-F4B4FFEC905B}" srcOrd="3" destOrd="0" presId="urn:microsoft.com/office/officeart/2018/2/layout/IconVerticalSolidList"/>
    <dgm:cxn modelId="{B6790F5D-E454-4CA4-845E-960EEBA7D609}" type="presParOf" srcId="{A3E0A4F0-46FF-46AF-8983-4B66E300E632}" destId="{D1448B1D-AB42-4E2F-A445-BA97DCC3CAE8}" srcOrd="1" destOrd="0" presId="urn:microsoft.com/office/officeart/2018/2/layout/IconVerticalSolidList"/>
    <dgm:cxn modelId="{6E78800D-83FC-4CDD-86F6-CD39821F5205}" type="presParOf" srcId="{A3E0A4F0-46FF-46AF-8983-4B66E300E632}" destId="{DB2966CF-19AD-4E8E-A1B2-E6E5E1D6112E}" srcOrd="2" destOrd="0" presId="urn:microsoft.com/office/officeart/2018/2/layout/IconVerticalSolidList"/>
    <dgm:cxn modelId="{03A4B6CB-161D-4B59-BD33-F9BF7F422469}" type="presParOf" srcId="{DB2966CF-19AD-4E8E-A1B2-E6E5E1D6112E}" destId="{F245ABA6-7416-4C30-B16A-E47836527F7A}" srcOrd="0" destOrd="0" presId="urn:microsoft.com/office/officeart/2018/2/layout/IconVerticalSolidList"/>
    <dgm:cxn modelId="{8BC1E886-AEC4-49A5-A98F-EB6240CE56C0}" type="presParOf" srcId="{DB2966CF-19AD-4E8E-A1B2-E6E5E1D6112E}" destId="{549BC21A-503F-4BB9-A8AC-A70ADD7E971B}" srcOrd="1" destOrd="0" presId="urn:microsoft.com/office/officeart/2018/2/layout/IconVerticalSolidList"/>
    <dgm:cxn modelId="{5B9EE628-B362-42AB-B7A8-60F766491AA1}" type="presParOf" srcId="{DB2966CF-19AD-4E8E-A1B2-E6E5E1D6112E}" destId="{A16A62F1-3C07-479B-B719-663AD62C877B}" srcOrd="2" destOrd="0" presId="urn:microsoft.com/office/officeart/2018/2/layout/IconVerticalSolidList"/>
    <dgm:cxn modelId="{7333CB9D-6A03-4904-94EA-F8445D020A0A}" type="presParOf" srcId="{DB2966CF-19AD-4E8E-A1B2-E6E5E1D6112E}" destId="{9EDF7F3F-39CC-45BC-B3BE-95BA58BAAC73}" srcOrd="3" destOrd="0" presId="urn:microsoft.com/office/officeart/2018/2/layout/IconVerticalSolidList"/>
    <dgm:cxn modelId="{9CE10F8B-6A5E-4865-B7CA-CF5CDE412225}" type="presParOf" srcId="{A3E0A4F0-46FF-46AF-8983-4B66E300E632}" destId="{D9B833C9-EA73-4F0F-9A79-63B37FA5778D}" srcOrd="3" destOrd="0" presId="urn:microsoft.com/office/officeart/2018/2/layout/IconVerticalSolidList"/>
    <dgm:cxn modelId="{945B214C-E21F-40D6-8F26-A4DF3F4FA8F2}" type="presParOf" srcId="{A3E0A4F0-46FF-46AF-8983-4B66E300E632}" destId="{F637AAF4-31AE-4525-BE4F-66DD1CE4A3FB}" srcOrd="4" destOrd="0" presId="urn:microsoft.com/office/officeart/2018/2/layout/IconVerticalSolidList"/>
    <dgm:cxn modelId="{C938AB27-A307-4260-A5CD-9FED1D82CBEE}" type="presParOf" srcId="{F637AAF4-31AE-4525-BE4F-66DD1CE4A3FB}" destId="{0968DCEF-ADD8-450C-A0C4-9A0754026A9A}" srcOrd="0" destOrd="0" presId="urn:microsoft.com/office/officeart/2018/2/layout/IconVerticalSolidList"/>
    <dgm:cxn modelId="{58A5A796-09B7-4426-A31C-5C46F49E693E}" type="presParOf" srcId="{F637AAF4-31AE-4525-BE4F-66DD1CE4A3FB}" destId="{73660C00-099E-4FE9-904C-4A88C2B52FDB}" srcOrd="1" destOrd="0" presId="urn:microsoft.com/office/officeart/2018/2/layout/IconVerticalSolidList"/>
    <dgm:cxn modelId="{F2F440C3-8FBA-4F97-8D40-E5563B17E3ED}" type="presParOf" srcId="{F637AAF4-31AE-4525-BE4F-66DD1CE4A3FB}" destId="{8876814C-AE5B-49CD-A3C2-03EA0281ED47}" srcOrd="2" destOrd="0" presId="urn:microsoft.com/office/officeart/2018/2/layout/IconVerticalSolidList"/>
    <dgm:cxn modelId="{1AB001B1-48B1-43E5-BE0D-B8F2A3F9D4A5}" type="presParOf" srcId="{F637AAF4-31AE-4525-BE4F-66DD1CE4A3FB}" destId="{CA46BBFC-698A-4BED-8979-6132E353D35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18736-1525-48D9-B8BB-CF8B35257E26}">
      <dsp:nvSpPr>
        <dsp:cNvPr id="0" name=""/>
        <dsp:cNvSpPr/>
      </dsp:nvSpPr>
      <dsp:spPr>
        <a:xfrm>
          <a:off x="0" y="531"/>
          <a:ext cx="5721484"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641FBA-7511-4707-B1BC-F3350387D001}">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F17609-0B81-4316-A872-F4B4FFEC905B}">
      <dsp:nvSpPr>
        <dsp:cNvPr id="0" name=""/>
        <dsp:cNvSpPr/>
      </dsp:nvSpPr>
      <dsp:spPr>
        <a:xfrm>
          <a:off x="1435590" y="531"/>
          <a:ext cx="4285893"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11200">
            <a:lnSpc>
              <a:spcPct val="100000"/>
            </a:lnSpc>
            <a:spcBef>
              <a:spcPct val="0"/>
            </a:spcBef>
            <a:spcAft>
              <a:spcPct val="35000"/>
            </a:spcAft>
            <a:buNone/>
          </a:pPr>
          <a:r>
            <a:rPr lang="en-GB" sz="1600" b="1" kern="1200" dirty="0">
              <a:solidFill>
                <a:srgbClr val="063532"/>
              </a:solidFill>
              <a:latin typeface="Arial" panose="020B0604020202020204" pitchFamily="34" charset="0"/>
              <a:cs typeface="Arial" panose="020B0604020202020204" pitchFamily="34" charset="0"/>
            </a:rPr>
            <a:t>Context:</a:t>
          </a:r>
          <a:r>
            <a:rPr lang="en-GB" sz="1600" kern="1200" dirty="0">
              <a:solidFill>
                <a:srgbClr val="063532"/>
              </a:solidFill>
              <a:latin typeface="Arial" panose="020B0604020202020204" pitchFamily="34" charset="0"/>
              <a:cs typeface="Arial" panose="020B0604020202020204" pitchFamily="34" charset="0"/>
            </a:rPr>
            <a:t> A leading bank has received feedback that its mobile banking app is difficult to use, leading to customer frustration and increased support calls.</a:t>
          </a:r>
          <a:endParaRPr lang="en-US" sz="1600" kern="1200" dirty="0">
            <a:solidFill>
              <a:srgbClr val="063532"/>
            </a:solidFill>
            <a:latin typeface="Arial" panose="020B0604020202020204" pitchFamily="34" charset="0"/>
            <a:cs typeface="Arial" panose="020B0604020202020204" pitchFamily="34" charset="0"/>
          </a:endParaRPr>
        </a:p>
      </dsp:txBody>
      <dsp:txXfrm>
        <a:off x="1435590" y="531"/>
        <a:ext cx="4285893" cy="1242935"/>
      </dsp:txXfrm>
    </dsp:sp>
    <dsp:sp modelId="{F245ABA6-7416-4C30-B16A-E47836527F7A}">
      <dsp:nvSpPr>
        <dsp:cNvPr id="0" name=""/>
        <dsp:cNvSpPr/>
      </dsp:nvSpPr>
      <dsp:spPr>
        <a:xfrm>
          <a:off x="0" y="1554201"/>
          <a:ext cx="5721484"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9BC21A-503F-4BB9-A8AC-A70ADD7E971B}">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DF7F3F-39CC-45BC-B3BE-95BA58BAAC73}">
      <dsp:nvSpPr>
        <dsp:cNvPr id="0" name=""/>
        <dsp:cNvSpPr/>
      </dsp:nvSpPr>
      <dsp:spPr>
        <a:xfrm>
          <a:off x="1435590" y="1554201"/>
          <a:ext cx="4285893"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11200">
            <a:lnSpc>
              <a:spcPct val="100000"/>
            </a:lnSpc>
            <a:spcBef>
              <a:spcPct val="0"/>
            </a:spcBef>
            <a:spcAft>
              <a:spcPct val="35000"/>
            </a:spcAft>
            <a:buNone/>
          </a:pPr>
          <a:r>
            <a:rPr lang="en-GB" sz="1600" b="1" kern="1200" dirty="0">
              <a:solidFill>
                <a:srgbClr val="063532"/>
              </a:solidFill>
              <a:latin typeface="Arial" panose="020B0604020202020204" pitchFamily="34" charset="0"/>
              <a:cs typeface="Arial" panose="020B0604020202020204" pitchFamily="34" charset="0"/>
            </a:rPr>
            <a:t>Goal:</a:t>
          </a:r>
          <a:r>
            <a:rPr lang="en-GB" sz="1600" kern="1200" dirty="0">
              <a:solidFill>
                <a:srgbClr val="063532"/>
              </a:solidFill>
              <a:latin typeface="Arial" panose="020B0604020202020204" pitchFamily="34" charset="0"/>
              <a:cs typeface="Arial" panose="020B0604020202020204" pitchFamily="34" charset="0"/>
            </a:rPr>
            <a:t> Improve the user experience to increase customer satisfaction and reduce support calls.</a:t>
          </a:r>
          <a:endParaRPr lang="en-US" sz="1600" kern="1200" dirty="0">
            <a:solidFill>
              <a:srgbClr val="063532"/>
            </a:solidFill>
            <a:latin typeface="Arial" panose="020B0604020202020204" pitchFamily="34" charset="0"/>
            <a:cs typeface="Arial" panose="020B0604020202020204" pitchFamily="34" charset="0"/>
          </a:endParaRPr>
        </a:p>
      </dsp:txBody>
      <dsp:txXfrm>
        <a:off x="1435590" y="1554201"/>
        <a:ext cx="4285893" cy="1242935"/>
      </dsp:txXfrm>
    </dsp:sp>
    <dsp:sp modelId="{0968DCEF-ADD8-450C-A0C4-9A0754026A9A}">
      <dsp:nvSpPr>
        <dsp:cNvPr id="0" name=""/>
        <dsp:cNvSpPr/>
      </dsp:nvSpPr>
      <dsp:spPr>
        <a:xfrm>
          <a:off x="0" y="3107870"/>
          <a:ext cx="5721484" cy="12429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660C00-099E-4FE9-904C-4A88C2B52FDB}">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46BBFC-698A-4BED-8979-6132E353D358}">
      <dsp:nvSpPr>
        <dsp:cNvPr id="0" name=""/>
        <dsp:cNvSpPr/>
      </dsp:nvSpPr>
      <dsp:spPr>
        <a:xfrm>
          <a:off x="1435590" y="3107870"/>
          <a:ext cx="4285893"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11200">
            <a:lnSpc>
              <a:spcPct val="100000"/>
            </a:lnSpc>
            <a:spcBef>
              <a:spcPct val="0"/>
            </a:spcBef>
            <a:spcAft>
              <a:spcPct val="35000"/>
            </a:spcAft>
            <a:buNone/>
          </a:pPr>
          <a:r>
            <a:rPr lang="en-GB" sz="1600" b="1" kern="1200" dirty="0">
              <a:solidFill>
                <a:srgbClr val="063532"/>
              </a:solidFill>
              <a:latin typeface="Arial" panose="020B0604020202020204" pitchFamily="34" charset="0"/>
              <a:cs typeface="Arial" panose="020B0604020202020204" pitchFamily="34" charset="0"/>
            </a:rPr>
            <a:t>Key Areas to Focus:</a:t>
          </a:r>
          <a:r>
            <a:rPr lang="en-GB" sz="1600" kern="1200" dirty="0">
              <a:solidFill>
                <a:srgbClr val="063532"/>
              </a:solidFill>
              <a:latin typeface="Arial" panose="020B0604020202020204" pitchFamily="34" charset="0"/>
              <a:cs typeface="Arial" panose="020B0604020202020204" pitchFamily="34" charset="0"/>
            </a:rPr>
            <a:t> Simplify navigation. Streamline transaction processes. Enhance security features visibility.</a:t>
          </a:r>
          <a:endParaRPr lang="en-US" sz="1600" kern="1200" dirty="0">
            <a:solidFill>
              <a:srgbClr val="063532"/>
            </a:solidFill>
            <a:latin typeface="Arial" panose="020B0604020202020204" pitchFamily="34" charset="0"/>
            <a:cs typeface="Arial" panose="020B0604020202020204" pitchFamily="34" charset="0"/>
          </a:endParaRPr>
        </a:p>
      </dsp:txBody>
      <dsp:txXfrm>
        <a:off x="1435590" y="3107870"/>
        <a:ext cx="4285893"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0B2A75-806E-4C4C-B773-0B9FB6B66724}" type="datetimeFigureOut">
              <a:rPr lang="en-GB" smtClean="0"/>
              <a:t>22/10/2024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1E1F46-6889-4337-95F3-CCEE343E717A}" type="slidenum">
              <a:rPr lang="en-GB" smtClean="0"/>
              <a:t>‹#›</a:t>
            </a:fld>
            <a:endParaRPr lang="en-GB"/>
          </a:p>
        </p:txBody>
      </p:sp>
    </p:spTree>
    <p:extLst>
      <p:ext uri="{BB962C8B-B14F-4D97-AF65-F5344CB8AC3E}">
        <p14:creationId xmlns:p14="http://schemas.microsoft.com/office/powerpoint/2010/main" val="550409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For lecturer's:</a:t>
            </a:r>
            <a:r>
              <a:rPr lang="en-US" dirty="0"/>
              <a:t> </a:t>
            </a:r>
            <a:r>
              <a:rPr lang="en-US" b="1" dirty="0"/>
              <a:t>Form Groups (5 mins):</a:t>
            </a:r>
            <a:r>
              <a:rPr lang="en-US" dirty="0"/>
              <a:t> Divide participants into small </a:t>
            </a:r>
            <a:r>
              <a:rPr lang="en-US" dirty="0" err="1"/>
              <a:t>groups,introduce</a:t>
            </a:r>
            <a:r>
              <a:rPr lang="en-US" dirty="0"/>
              <a:t> scenario and give instructions (3-5 members).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8306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Start the visible timer on the screen for everyone's visibility.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5820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Once the students present, the instructor's sum up the activity with this example. Learner's in Year 1-level 4 already have learnt all of this .</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4759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Once the students present, the instructor's sum up the activity with this example. Learner's in Year 1-level 4 already have learnt all of this .</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6820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Once the students present, the instructor's sum up the activity with this example. Learner's in Year 1-level 4 already have learnt all of this .</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397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Once the students present, the instructor's sum up the activity with this example. Learner's in Year 1-level 4 already have learnt all of this .</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02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 Instructors:</a:t>
            </a:r>
            <a:endParaRPr lang="en-US" dirty="0"/>
          </a:p>
          <a:p>
            <a:r>
              <a:rPr lang="en-US" b="1" dirty="0"/>
              <a:t>Read this to the students:</a:t>
            </a:r>
            <a:r>
              <a:rPr lang="en-US" dirty="0"/>
              <a:t> Welcome to our first assessment clinic for the UX Strategies module. Today, we will be introducing you to the UX Strategies assessment. Our goal is to ensure that you fully understand each part of the assessment brief, and we will take the time to walk through it slowly and thoroughly. </a:t>
            </a:r>
            <a:endParaRPr lang="en-US" dirty="0">
              <a:cs typeface="Calibri"/>
            </a:endParaRPr>
          </a:p>
          <a:p>
            <a:endParaRPr lang="en-US" dirty="0"/>
          </a:p>
          <a:p>
            <a:r>
              <a:rPr lang="en-US" dirty="0"/>
              <a:t>We will cover each section of the assessment brief, allowing ample time for you to read and ask questions. It is essential that you feel confident about what is expected of you, and we are here to support you every step of the way. Rest assured, throughout this module, you will gain ample knowledge and skills to understand and complete each part of the assessment. We will have additional assessment clinics where we will delve deeper into specific sections, providing you with further guidance and support.</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184822-DC4C-4079-9544-59F2780D493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96278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11F1C"/>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79F4BC5-362E-4942-AE1F-1F832371A875}"/>
              </a:ext>
            </a:extLst>
          </p:cNvPr>
          <p:cNvSpPr txBox="1"/>
          <p:nvPr userDrawn="1"/>
        </p:nvSpPr>
        <p:spPr>
          <a:xfrm>
            <a:off x="586597" y="4816234"/>
            <a:ext cx="3885086" cy="390157"/>
          </a:xfrm>
          <a:prstGeom prst="rect">
            <a:avLst/>
          </a:prstGeom>
        </p:spPr>
        <p:txBody>
          <a:bodyPr vert="horz" wrap="square" lIns="0" tIns="0" rIns="0" bIns="0" rtlCol="0" anchor="t" anchorCtr="0">
            <a:normAutofit/>
          </a:bodyPr>
          <a:lstStyle/>
          <a:p>
            <a:pPr algn="l"/>
            <a:r>
              <a:rPr lang="en-GB" sz="1800" b="1" dirty="0">
                <a:solidFill>
                  <a:srgbClr val="FEF6F0"/>
                </a:solidFill>
                <a:latin typeface="Arial" panose="020B0604020202020204" pitchFamily="34" charset="0"/>
                <a:cs typeface="Arial" panose="020B0604020202020204" pitchFamily="34" charset="0"/>
              </a:rPr>
              <a:t>qahighereducation.com</a:t>
            </a:r>
          </a:p>
        </p:txBody>
      </p:sp>
      <p:sp>
        <p:nvSpPr>
          <p:cNvPr id="13" name="Title 12">
            <a:extLst>
              <a:ext uri="{FF2B5EF4-FFF2-40B4-BE49-F238E27FC236}">
                <a16:creationId xmlns:a16="http://schemas.microsoft.com/office/drawing/2014/main" id="{A9698A62-F5AA-4D74-98E6-57AB6EFF50C8}"/>
              </a:ext>
            </a:extLst>
          </p:cNvPr>
          <p:cNvSpPr>
            <a:spLocks noGrp="1"/>
          </p:cNvSpPr>
          <p:nvPr>
            <p:ph type="title" hasCustomPrompt="1"/>
          </p:nvPr>
        </p:nvSpPr>
        <p:spPr>
          <a:xfrm>
            <a:off x="478796" y="2727339"/>
            <a:ext cx="11160753" cy="759600"/>
          </a:xfrm>
        </p:spPr>
        <p:txBody>
          <a:bodyPr anchor="ctr">
            <a:noAutofit/>
          </a:bodyPr>
          <a:lstStyle>
            <a:lvl1pPr>
              <a:defRPr lang="en-GB" sz="5600" cap="none" baseline="0">
                <a:solidFill>
                  <a:srgbClr val="FEF6F0"/>
                </a:solidFill>
              </a:defRPr>
            </a:lvl1pPr>
          </a:lstStyle>
          <a:p>
            <a:pPr marL="0" lvl="0"/>
            <a:r>
              <a:rPr lang="en-US" dirty="0"/>
              <a:t>Click to add title</a:t>
            </a:r>
            <a:endParaRPr lang="en-GB" dirty="0"/>
          </a:p>
        </p:txBody>
      </p:sp>
      <p:sp>
        <p:nvSpPr>
          <p:cNvPr id="16" name="Text Placeholder 15">
            <a:extLst>
              <a:ext uri="{FF2B5EF4-FFF2-40B4-BE49-F238E27FC236}">
                <a16:creationId xmlns:a16="http://schemas.microsoft.com/office/drawing/2014/main" id="{6349BDDA-1774-4338-B3DF-330260872D1C}"/>
              </a:ext>
            </a:extLst>
          </p:cNvPr>
          <p:cNvSpPr>
            <a:spLocks noGrp="1"/>
          </p:cNvSpPr>
          <p:nvPr>
            <p:ph type="body" sz="quarter" idx="10" hasCustomPrompt="1"/>
          </p:nvPr>
        </p:nvSpPr>
        <p:spPr>
          <a:xfrm>
            <a:off x="504000" y="3491758"/>
            <a:ext cx="11160752" cy="547200"/>
          </a:xfrm>
        </p:spPr>
        <p:txBody>
          <a:bodyPr>
            <a:normAutofit/>
          </a:bodyPr>
          <a:lstStyle>
            <a:lvl1pPr algn="l">
              <a:defRPr lang="en-GB" sz="2400" b="1" dirty="0">
                <a:solidFill>
                  <a:schemeClr val="bg1"/>
                </a:solidFill>
              </a:defRPr>
            </a:lvl1pPr>
          </a:lstStyle>
          <a:p>
            <a:pPr marL="0" lvl="0" indent="0">
              <a:buNone/>
            </a:pPr>
            <a:r>
              <a:rPr lang="en-GB" dirty="0"/>
              <a:t>Click to add subtitle</a:t>
            </a:r>
          </a:p>
        </p:txBody>
      </p:sp>
      <p:pic>
        <p:nvPicPr>
          <p:cNvPr id="3" name="Picture 2">
            <a:extLst>
              <a:ext uri="{FF2B5EF4-FFF2-40B4-BE49-F238E27FC236}">
                <a16:creationId xmlns:a16="http://schemas.microsoft.com/office/drawing/2014/main" id="{255A1543-A13A-4CCB-9397-558DE2B66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553" y="517537"/>
            <a:ext cx="3249177" cy="671291"/>
          </a:xfrm>
          <a:prstGeom prst="rect">
            <a:avLst/>
          </a:prstGeom>
        </p:spPr>
      </p:pic>
    </p:spTree>
    <p:extLst>
      <p:ext uri="{BB962C8B-B14F-4D97-AF65-F5344CB8AC3E}">
        <p14:creationId xmlns:p14="http://schemas.microsoft.com/office/powerpoint/2010/main" val="1564278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_and_Conten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EAD1B3B-6002-4B6D-957F-8458DA7E7DF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2" name="Title 1"/>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478800" y="1249200"/>
            <a:ext cx="10875600" cy="5144400"/>
          </a:xfrm>
          <a:prstGeom prst="rect">
            <a:avLst/>
          </a:prstGeom>
        </p:spPr>
        <p:txBody>
          <a:bodyPr>
            <a:normAutofit/>
          </a:bodyPr>
          <a:lstStyle>
            <a:lvl1pPr marL="228600" indent="-228600" algn="l" defTabSz="914400" rtl="0" eaLnBrk="1" latinLnBrk="0" hangingPunct="1">
              <a:lnSpc>
                <a:spcPct val="150000"/>
              </a:lnSpc>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06B0BE7-D16B-4D34-B974-71265B7FFB65}" type="datetimeFigureOut">
              <a:rPr lang="en-GB" smtClean="0"/>
              <a:t>22/10/2024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29EBE78-CE6B-4E09-842D-3085BE8AA51D}" type="slidenum">
              <a:rPr lang="en-GB" smtClean="0"/>
              <a:t>‹#›</a:t>
            </a:fld>
            <a:endParaRPr lang="en-GB"/>
          </a:p>
        </p:txBody>
      </p:sp>
      <p:sp>
        <p:nvSpPr>
          <p:cNvPr id="11" name="Rectangle 10">
            <a:extLst>
              <a:ext uri="{FF2B5EF4-FFF2-40B4-BE49-F238E27FC236}">
                <a16:creationId xmlns:a16="http://schemas.microsoft.com/office/drawing/2014/main" id="{D31FCA7B-50DF-4488-B2F7-D3356F815718}"/>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228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_Content_1">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8800" y="1248601"/>
            <a:ext cx="5181600" cy="5144999"/>
          </a:xfrm>
          <a:prstGeom prst="rect">
            <a:avLst/>
          </a:prstGeom>
        </p:spPr>
        <p:txBody>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72200" y="1248601"/>
            <a:ext cx="5181600" cy="5144999"/>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B06B0BE7-D16B-4D34-B974-71265B7FFB65}" type="datetimeFigureOut">
              <a:rPr lang="en-GB" smtClean="0"/>
              <a:t>22/10/2024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1" name="Picture 10">
            <a:extLst>
              <a:ext uri="{FF2B5EF4-FFF2-40B4-BE49-F238E27FC236}">
                <a16:creationId xmlns:a16="http://schemas.microsoft.com/office/drawing/2014/main" id="{717D32F0-1E8B-4120-809D-10E8D1B1C68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2" name="Title 1">
            <a:extLst>
              <a:ext uri="{FF2B5EF4-FFF2-40B4-BE49-F238E27FC236}">
                <a16:creationId xmlns:a16="http://schemas.microsoft.com/office/drawing/2014/main" id="{91718958-DF9B-431E-A448-8432CF941371}"/>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14" name="Rectangle 13">
            <a:extLst>
              <a:ext uri="{FF2B5EF4-FFF2-40B4-BE49-F238E27FC236}">
                <a16:creationId xmlns:a16="http://schemas.microsoft.com/office/drawing/2014/main" id="{DF2473B1-6881-4DD0-824B-7D40792DBAC0}"/>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551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_Content_2">
    <p:spTree>
      <p:nvGrpSpPr>
        <p:cNvPr id="1" name=""/>
        <p:cNvGrpSpPr/>
        <p:nvPr/>
      </p:nvGrpSpPr>
      <p:grpSpPr>
        <a:xfrm>
          <a:off x="0" y="0"/>
          <a:ext cx="0" cy="0"/>
          <a:chOff x="0" y="0"/>
          <a:chExt cx="0" cy="0"/>
        </a:xfrm>
      </p:grpSpPr>
      <p:sp>
        <p:nvSpPr>
          <p:cNvPr id="2" name="Title 1"/>
          <p:cNvSpPr>
            <a:spLocks noGrp="1"/>
          </p:cNvSpPr>
          <p:nvPr>
            <p:ph type="title"/>
          </p:nvPr>
        </p:nvSpPr>
        <p:spPr>
          <a:xfrm>
            <a:off x="3296220" y="162598"/>
            <a:ext cx="8607406" cy="1392429"/>
          </a:xfrm>
          <a:prstGeom prst="rect">
            <a:avLst/>
          </a:prstGeom>
        </p:spPr>
        <p:txBody>
          <a:bodyPr anchor="ctr"/>
          <a:lstStyle>
            <a:lvl1pPr>
              <a:defRPr>
                <a:solidFill>
                  <a:srgbClr val="063532"/>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478800" y="1906980"/>
            <a:ext cx="5181600" cy="4486619"/>
          </a:xfrm>
          <a:prstGeom prst="rect">
            <a:avLst/>
          </a:prstGeom>
        </p:spPr>
        <p:txBody>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72200" y="1906980"/>
            <a:ext cx="5181600" cy="4486619"/>
          </a:xfrm>
          <a:prstGeom prst="rect">
            <a:avLst/>
          </a:prstGeom>
        </p:spPr>
        <p:txBody>
          <a:bodyPr>
            <a:normAutofit/>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B06B0BE7-D16B-4D34-B974-71265B7FFB65}" type="datetimeFigureOut">
              <a:rPr lang="en-GB" smtClean="0"/>
              <a:t>22/10/2024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2" name="Picture 11">
            <a:extLst>
              <a:ext uri="{FF2B5EF4-FFF2-40B4-BE49-F238E27FC236}">
                <a16:creationId xmlns:a16="http://schemas.microsoft.com/office/drawing/2014/main" id="{AC2D06BA-0193-4A43-9CD0-5FE039BBDA3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558102"/>
            <a:ext cx="2710347" cy="628625"/>
          </a:xfrm>
          <a:prstGeom prst="rect">
            <a:avLst/>
          </a:prstGeom>
        </p:spPr>
      </p:pic>
      <p:sp>
        <p:nvSpPr>
          <p:cNvPr id="14" name="Rectangle 13">
            <a:extLst>
              <a:ext uri="{FF2B5EF4-FFF2-40B4-BE49-F238E27FC236}">
                <a16:creationId xmlns:a16="http://schemas.microsoft.com/office/drawing/2014/main" id="{D5BE2B3F-5751-4DA1-B4F6-09BE9D0AFF88}"/>
              </a:ext>
            </a:extLst>
          </p:cNvPr>
          <p:cNvSpPr/>
          <p:nvPr userDrawn="1"/>
        </p:nvSpPr>
        <p:spPr>
          <a:xfrm>
            <a:off x="3016650" y="558102"/>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6774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ntent_3">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800" y="1249135"/>
            <a:ext cx="5157787" cy="55057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78800" y="1801091"/>
            <a:ext cx="5157787"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72200" y="1249134"/>
            <a:ext cx="5158800" cy="5508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1799713"/>
            <a:ext cx="5158800"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fld id="{B06B0BE7-D16B-4D34-B974-71265B7FFB65}" type="datetimeFigureOut">
              <a:rPr lang="en-GB" smtClean="0"/>
              <a:t>22/10/2024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29EBE78-CE6B-4E09-842D-3085BE8AA51D}" type="slidenum">
              <a:rPr lang="en-GB" smtClean="0"/>
              <a:t>‹#›</a:t>
            </a:fld>
            <a:endParaRPr lang="en-GB"/>
          </a:p>
        </p:txBody>
      </p:sp>
      <p:pic>
        <p:nvPicPr>
          <p:cNvPr id="13" name="Picture 12">
            <a:extLst>
              <a:ext uri="{FF2B5EF4-FFF2-40B4-BE49-F238E27FC236}">
                <a16:creationId xmlns:a16="http://schemas.microsoft.com/office/drawing/2014/main" id="{6BD8D940-C6E9-4ACD-B524-28491155E44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4" name="Title 1">
            <a:extLst>
              <a:ext uri="{FF2B5EF4-FFF2-40B4-BE49-F238E27FC236}">
                <a16:creationId xmlns:a16="http://schemas.microsoft.com/office/drawing/2014/main" id="{096BB317-9E49-4E62-94FA-3BC1A6435449}"/>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16" name="Rectangle 15">
            <a:extLst>
              <a:ext uri="{FF2B5EF4-FFF2-40B4-BE49-F238E27FC236}">
                <a16:creationId xmlns:a16="http://schemas.microsoft.com/office/drawing/2014/main" id="{D5F2423B-3474-4445-ADB3-0F6BA8B1CEE2}"/>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3049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06B0BE7-D16B-4D34-B974-71265B7FFB65}" type="datetimeFigureOut">
              <a:rPr lang="en-GB" smtClean="0"/>
              <a:t>22/10/2024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29EBE78-CE6B-4E09-842D-3085BE8AA51D}" type="slidenum">
              <a:rPr lang="en-GB" smtClean="0"/>
              <a:t>‹#›</a:t>
            </a:fld>
            <a:endParaRPr lang="en-GB"/>
          </a:p>
        </p:txBody>
      </p:sp>
      <p:pic>
        <p:nvPicPr>
          <p:cNvPr id="8" name="Picture 7">
            <a:extLst>
              <a:ext uri="{FF2B5EF4-FFF2-40B4-BE49-F238E27FC236}">
                <a16:creationId xmlns:a16="http://schemas.microsoft.com/office/drawing/2014/main" id="{F1F851AD-FF0A-4D0E-8285-D3EE7857AD5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9" name="Title 1">
            <a:extLst>
              <a:ext uri="{FF2B5EF4-FFF2-40B4-BE49-F238E27FC236}">
                <a16:creationId xmlns:a16="http://schemas.microsoft.com/office/drawing/2014/main" id="{3DD6C0A6-DDAA-4CEF-8DBF-38AD56E319F4}"/>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12" name="Rectangle 11">
            <a:extLst>
              <a:ext uri="{FF2B5EF4-FFF2-40B4-BE49-F238E27FC236}">
                <a16:creationId xmlns:a16="http://schemas.microsoft.com/office/drawing/2014/main" id="{5E9BA10A-F7D3-40BB-8223-BC166EACD246}"/>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756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6B0BE7-D16B-4D34-B974-71265B7FFB65}" type="datetimeFigureOut">
              <a:rPr lang="en-GB" smtClean="0"/>
              <a:t>22/10/2024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29EBE78-CE6B-4E09-842D-3085BE8AA51D}" type="slidenum">
              <a:rPr lang="en-GB" smtClean="0"/>
              <a:t>‹#›</a:t>
            </a:fld>
            <a:endParaRPr lang="en-GB"/>
          </a:p>
        </p:txBody>
      </p:sp>
    </p:spTree>
    <p:extLst>
      <p:ext uri="{BB962C8B-B14F-4D97-AF65-F5344CB8AC3E}">
        <p14:creationId xmlns:p14="http://schemas.microsoft.com/office/powerpoint/2010/main" val="2131943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_Break_1">
    <p:bg>
      <p:bgPr>
        <a:solidFill>
          <a:srgbClr val="E11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415F-DBFD-4DDD-B47A-BA56E9C237CF}"/>
              </a:ext>
            </a:extLst>
          </p:cNvPr>
          <p:cNvSpPr>
            <a:spLocks noGrp="1"/>
          </p:cNvSpPr>
          <p:nvPr>
            <p:ph type="title" hasCustomPrompt="1"/>
          </p:nvPr>
        </p:nvSpPr>
        <p:spPr>
          <a:xfrm>
            <a:off x="547200" y="2082800"/>
            <a:ext cx="6132848" cy="2351314"/>
          </a:xfrm>
        </p:spPr>
        <p:txBody>
          <a:bodyPr anchor="ctr">
            <a:noAutofit/>
          </a:bodyPr>
          <a:lstStyle>
            <a:lvl1pPr>
              <a:defRPr sz="5600" cap="none" baseline="0">
                <a:solidFill>
                  <a:srgbClr val="FEF6F0"/>
                </a:solidFill>
              </a:defRPr>
            </a:lvl1pPr>
          </a:lstStyle>
          <a:p>
            <a:r>
              <a:rPr lang="en-US" dirty="0"/>
              <a:t>Click to add title</a:t>
            </a:r>
            <a:endParaRPr lang="en-GB" dirty="0"/>
          </a:p>
        </p:txBody>
      </p:sp>
      <p:sp>
        <p:nvSpPr>
          <p:cNvPr id="13" name="TextBox 12">
            <a:extLst>
              <a:ext uri="{FF2B5EF4-FFF2-40B4-BE49-F238E27FC236}">
                <a16:creationId xmlns:a16="http://schemas.microsoft.com/office/drawing/2014/main" id="{BB58425E-F767-40D4-8F2E-BA7E0F48360F}"/>
              </a:ext>
            </a:extLst>
          </p:cNvPr>
          <p:cNvSpPr txBox="1"/>
          <p:nvPr userDrawn="1"/>
        </p:nvSpPr>
        <p:spPr>
          <a:xfrm>
            <a:off x="665976" y="4520951"/>
            <a:ext cx="3885086" cy="390157"/>
          </a:xfrm>
          <a:prstGeom prst="rect">
            <a:avLst/>
          </a:prstGeom>
        </p:spPr>
        <p:txBody>
          <a:bodyPr vert="horz" wrap="square" lIns="0" tIns="0" rIns="0" bIns="0" rtlCol="0" anchor="t" anchorCtr="0">
            <a:normAutofit/>
          </a:bodyPr>
          <a:lstStyle/>
          <a:p>
            <a:pPr algn="l"/>
            <a:r>
              <a:rPr lang="en-GB" sz="1800" b="1" dirty="0">
                <a:solidFill>
                  <a:srgbClr val="FEF6F0"/>
                </a:solidFill>
                <a:latin typeface="Arial" panose="020B0604020202020204" pitchFamily="34" charset="0"/>
                <a:cs typeface="Arial" panose="020B0604020202020204" pitchFamily="34" charset="0"/>
              </a:rPr>
              <a:t>qahighereducation.com</a:t>
            </a:r>
          </a:p>
        </p:txBody>
      </p:sp>
      <p:pic>
        <p:nvPicPr>
          <p:cNvPr id="5" name="Picture 4">
            <a:extLst>
              <a:ext uri="{FF2B5EF4-FFF2-40B4-BE49-F238E27FC236}">
                <a16:creationId xmlns:a16="http://schemas.microsoft.com/office/drawing/2014/main" id="{84EA1FCC-5D7C-457D-B5D0-944588B44E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48" y="516346"/>
            <a:ext cx="3249177" cy="671291"/>
          </a:xfrm>
          <a:prstGeom prst="rect">
            <a:avLst/>
          </a:prstGeom>
        </p:spPr>
      </p:pic>
    </p:spTree>
    <p:extLst>
      <p:ext uri="{BB962C8B-B14F-4D97-AF65-F5344CB8AC3E}">
        <p14:creationId xmlns:p14="http://schemas.microsoft.com/office/powerpoint/2010/main" val="1664168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6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6400" y="1249200"/>
            <a:ext cx="10515600" cy="759600"/>
          </a:xfrm>
          <a:prstGeom prst="rect">
            <a:avLst/>
          </a:prstGeom>
        </p:spPr>
        <p:txBody>
          <a:bodyPr anchor="b">
            <a:normAutofit/>
          </a:bodyPr>
          <a:lstStyle/>
          <a:p>
            <a:pPr marL="0" lvl="0"/>
            <a:r>
              <a:rPr lang="en-US" dirty="0"/>
              <a:t>Click to edit Master title style</a:t>
            </a:r>
            <a:endParaRPr lang="en-GB" dirty="0"/>
          </a:p>
        </p:txBody>
      </p:sp>
      <p:sp>
        <p:nvSpPr>
          <p:cNvPr id="3" name="Text Placeholder 2"/>
          <p:cNvSpPr>
            <a:spLocks noGrp="1"/>
          </p:cNvSpPr>
          <p:nvPr>
            <p:ph type="body" idx="1"/>
          </p:nvPr>
        </p:nvSpPr>
        <p:spPr>
          <a:xfrm>
            <a:off x="478800" y="2354400"/>
            <a:ext cx="10875600" cy="4039200"/>
          </a:xfrm>
          <a:prstGeom prst="rect">
            <a:avLst/>
          </a:prstGeom>
        </p:spPr>
        <p:txBody>
          <a:bodyPr>
            <a:normAutofit/>
          </a:bodyPr>
          <a:lstStyle/>
          <a:p>
            <a:pPr lvl="0">
              <a:lnSpc>
                <a:spcPct val="150000"/>
              </a:lnSpc>
            </a:pPr>
            <a:r>
              <a:rPr lang="en-US" dirty="0"/>
              <a:t>Edit Master text styles</a:t>
            </a:r>
          </a:p>
          <a:p>
            <a:pPr lvl="1">
              <a:lnSpc>
                <a:spcPct val="150000"/>
              </a:lnSpc>
            </a:pPr>
            <a:r>
              <a:rPr lang="en-US" dirty="0"/>
              <a:t>Second level</a:t>
            </a:r>
          </a:p>
          <a:p>
            <a:pPr lvl="2">
              <a:lnSpc>
                <a:spcPct val="150000"/>
              </a:lnSpc>
            </a:pPr>
            <a:r>
              <a:rPr lang="en-US" dirty="0"/>
              <a:t>Third level</a:t>
            </a:r>
          </a:p>
          <a:p>
            <a:pPr lvl="3">
              <a:lnSpc>
                <a:spcPct val="150000"/>
              </a:lnSpc>
            </a:pPr>
            <a:r>
              <a:rPr lang="en-US" dirty="0"/>
              <a:t>Fourth level</a:t>
            </a:r>
          </a:p>
          <a:p>
            <a:pPr lvl="4">
              <a:lnSpc>
                <a:spcPct val="150000"/>
              </a:lnSpc>
            </a:pPr>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6B0BE7-D16B-4D34-B974-71265B7FFB65}" type="datetimeFigureOut">
              <a:rPr lang="en-GB" smtClean="0"/>
              <a:t>22/10/2024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EBE78-CE6B-4E09-842D-3085BE8AA51D}" type="slidenum">
              <a:rPr lang="en-GB" smtClean="0"/>
              <a:t>‹#›</a:t>
            </a:fld>
            <a:endParaRPr lang="en-GB"/>
          </a:p>
        </p:txBody>
      </p:sp>
    </p:spTree>
    <p:extLst>
      <p:ext uri="{BB962C8B-B14F-4D97-AF65-F5344CB8AC3E}">
        <p14:creationId xmlns:p14="http://schemas.microsoft.com/office/powerpoint/2010/main" val="1859534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914400" rtl="0" eaLnBrk="1" latinLnBrk="0" hangingPunct="1">
        <a:lnSpc>
          <a:spcPct val="90000"/>
        </a:lnSpc>
        <a:spcBef>
          <a:spcPct val="0"/>
        </a:spcBef>
        <a:buNone/>
        <a:defRPr lang="en-GB" sz="3200" b="1" kern="1200">
          <a:solidFill>
            <a:srgbClr val="06353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28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GB" sz="24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nngroup.com/articles/ux-research-cheat-sheet/" TargetMode="External"/><Relationship Id="rId2" Type="http://schemas.openxmlformats.org/officeDocument/2006/relationships/hyperlink" Target="https://www.interaction-design.org/literature/topics" TargetMode="External"/><Relationship Id="rId1" Type="http://schemas.openxmlformats.org/officeDocument/2006/relationships/slideLayout" Target="../slideLayouts/slideLayout2.xml"/><Relationship Id="rId4" Type="http://schemas.openxmlformats.org/officeDocument/2006/relationships/hyperlink" Target="https://milanote.com/guide/person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solent.ac.uk/alumni"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nngroup.com/articles/ux-research-cheat-sheet/" TargetMode="External"/><Relationship Id="rId2" Type="http://schemas.openxmlformats.org/officeDocument/2006/relationships/hyperlink" Target="https://www.interaction-design.org/literature/topic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5E2E-4931-6CFC-8ABE-7EAB64C68954}"/>
              </a:ext>
            </a:extLst>
          </p:cNvPr>
          <p:cNvSpPr>
            <a:spLocks noGrp="1"/>
          </p:cNvSpPr>
          <p:nvPr>
            <p:ph type="title"/>
          </p:nvPr>
        </p:nvSpPr>
        <p:spPr/>
        <p:txBody>
          <a:bodyPr/>
          <a:lstStyle/>
          <a:p>
            <a:r>
              <a:rPr lang="en-GB" sz="4400" dirty="0"/>
              <a:t>Applying UX Strategy in Real Scenarios</a:t>
            </a:r>
          </a:p>
        </p:txBody>
      </p:sp>
      <p:sp>
        <p:nvSpPr>
          <p:cNvPr id="3" name="Subtitle 2">
            <a:extLst>
              <a:ext uri="{FF2B5EF4-FFF2-40B4-BE49-F238E27FC236}">
                <a16:creationId xmlns:a16="http://schemas.microsoft.com/office/drawing/2014/main" id="{18E11059-E64B-F409-6BD7-2B552008CB68}"/>
              </a:ext>
            </a:extLst>
          </p:cNvPr>
          <p:cNvSpPr>
            <a:spLocks noGrp="1"/>
          </p:cNvSpPr>
          <p:nvPr>
            <p:ph type="body" sz="quarter" idx="10"/>
          </p:nvPr>
        </p:nvSpPr>
        <p:spPr/>
        <p:txBody>
          <a:bodyPr/>
          <a:lstStyle/>
          <a:p>
            <a:r>
              <a:rPr lang="en-GB" dirty="0"/>
              <a:t>Week 1 seminar| UX Strategies</a:t>
            </a:r>
          </a:p>
        </p:txBody>
      </p:sp>
    </p:spTree>
    <p:extLst>
      <p:ext uri="{BB962C8B-B14F-4D97-AF65-F5344CB8AC3E}">
        <p14:creationId xmlns:p14="http://schemas.microsoft.com/office/powerpoint/2010/main" val="241943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Outline</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lstStyle/>
          <a:p>
            <a:pPr marL="0" indent="0">
              <a:buNone/>
            </a:pPr>
            <a:r>
              <a:rPr lang="en-GB" dirty="0"/>
              <a:t>In this week’s seminar session, you will apply the following concepts from the lecture session:</a:t>
            </a:r>
          </a:p>
          <a:p>
            <a:pPr lvl="1"/>
            <a:r>
              <a:rPr lang="en-GB" dirty="0"/>
              <a:t>1. Understand the key component of a UX strategy.</a:t>
            </a:r>
          </a:p>
          <a:p>
            <a:pPr lvl="1"/>
            <a:r>
              <a:rPr lang="en-GB" dirty="0"/>
              <a:t>2. Learn to apply UX strategy in real-world scenarios.</a:t>
            </a:r>
          </a:p>
          <a:p>
            <a:pPr lvl="1"/>
            <a:r>
              <a:rPr lang="en-GB" dirty="0"/>
              <a:t>3. Engage in hands-on activities to reinforce learning.</a:t>
            </a:r>
          </a:p>
          <a:p>
            <a:pPr marL="0" indent="0">
              <a:buNone/>
            </a:pPr>
            <a:r>
              <a:rPr lang="en-GB" dirty="0"/>
              <a:t>The seminar is structured into 1 research and presentation activity.</a:t>
            </a:r>
          </a:p>
        </p:txBody>
      </p:sp>
    </p:spTree>
    <p:extLst>
      <p:ext uri="{BB962C8B-B14F-4D97-AF65-F5344CB8AC3E}">
        <p14:creationId xmlns:p14="http://schemas.microsoft.com/office/powerpoint/2010/main" val="2769207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Activity 1 - Introduction: 5 mins</a:t>
            </a:r>
          </a:p>
        </p:txBody>
      </p:sp>
      <p:graphicFrame>
        <p:nvGraphicFramePr>
          <p:cNvPr id="5" name="Content Placeholder 2">
            <a:extLst>
              <a:ext uri="{FF2B5EF4-FFF2-40B4-BE49-F238E27FC236}">
                <a16:creationId xmlns:a16="http://schemas.microsoft.com/office/drawing/2014/main" id="{8C0A949A-A4EC-B245-33B6-30024A4106BA}"/>
              </a:ext>
            </a:extLst>
          </p:cNvPr>
          <p:cNvGraphicFramePr>
            <a:graphicFrameLocks/>
          </p:cNvGraphicFramePr>
          <p:nvPr/>
        </p:nvGraphicFramePr>
        <p:xfrm>
          <a:off x="5799888" y="1768970"/>
          <a:ext cx="572148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Which banks have the best online and app security? - Which? News">
            <a:extLst>
              <a:ext uri="{FF2B5EF4-FFF2-40B4-BE49-F238E27FC236}">
                <a16:creationId xmlns:a16="http://schemas.microsoft.com/office/drawing/2014/main" id="{C992527B-7F81-5386-A6D8-3980B947B893}"/>
              </a:ext>
            </a:extLst>
          </p:cNvPr>
          <p:cNvPicPr>
            <a:picLocks noChangeAspect="1"/>
          </p:cNvPicPr>
          <p:nvPr/>
        </p:nvPicPr>
        <p:blipFill>
          <a:blip r:embed="rId8"/>
          <a:stretch>
            <a:fillRect/>
          </a:stretch>
        </p:blipFill>
        <p:spPr>
          <a:xfrm>
            <a:off x="774150" y="1769397"/>
            <a:ext cx="4267198" cy="4342106"/>
          </a:xfrm>
          <a:prstGeom prst="rect">
            <a:avLst/>
          </a:prstGeom>
        </p:spPr>
      </p:pic>
    </p:spTree>
    <p:extLst>
      <p:ext uri="{BB962C8B-B14F-4D97-AF65-F5344CB8AC3E}">
        <p14:creationId xmlns:p14="http://schemas.microsoft.com/office/powerpoint/2010/main" val="2757442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Activity 1 - Instructions</a:t>
            </a:r>
          </a:p>
        </p:txBody>
      </p:sp>
      <p:sp>
        <p:nvSpPr>
          <p:cNvPr id="3" name="Content Placeholder 28">
            <a:extLst>
              <a:ext uri="{FF2B5EF4-FFF2-40B4-BE49-F238E27FC236}">
                <a16:creationId xmlns:a16="http://schemas.microsoft.com/office/drawing/2014/main" id="{AF2D76A4-F1BF-AAC8-9A90-812F38FB7C94}"/>
              </a:ext>
            </a:extLst>
          </p:cNvPr>
          <p:cNvSpPr>
            <a:spLocks noGrp="1"/>
          </p:cNvSpPr>
          <p:nvPr>
            <p:ph idx="1"/>
          </p:nvPr>
        </p:nvSpPr>
        <p:spPr>
          <a:xfrm>
            <a:off x="782092" y="1366355"/>
            <a:ext cx="10627815" cy="5672715"/>
          </a:xfrm>
        </p:spPr>
        <p:txBody>
          <a:bodyPr vert="horz" lIns="91440" tIns="45720" rIns="91440" bIns="45720" rtlCol="0" anchor="t">
            <a:noAutofit/>
          </a:bodyPr>
          <a:lstStyle/>
          <a:p>
            <a:pPr marL="457200" indent="-457200">
              <a:lnSpc>
                <a:spcPct val="100000"/>
              </a:lnSpc>
              <a:buAutoNum type="arabicPeriod"/>
            </a:pPr>
            <a:r>
              <a:rPr lang="en-US" sz="1800" b="1" dirty="0">
                <a:ea typeface="+mn-lt"/>
                <a:cs typeface="+mn-lt"/>
              </a:rPr>
              <a:t>Discuss the Scenario (5 mins):</a:t>
            </a:r>
            <a:r>
              <a:rPr lang="en-US" sz="1800" dirty="0">
                <a:ea typeface="+mn-lt"/>
                <a:cs typeface="+mn-lt"/>
              </a:rPr>
              <a:t> Review the scenario and identify key issues with the current app in your groups. You can use a digital tool or simple pen/paper to record your ideas.</a:t>
            </a:r>
          </a:p>
          <a:p>
            <a:pPr marL="457200" indent="-457200">
              <a:lnSpc>
                <a:spcPct val="100000"/>
              </a:lnSpc>
              <a:buAutoNum type="arabicPeriod"/>
            </a:pPr>
            <a:r>
              <a:rPr lang="en-US" sz="1800" b="1" dirty="0">
                <a:ea typeface="+mn-lt"/>
                <a:cs typeface="+mn-lt"/>
              </a:rPr>
              <a:t>Develop a UX Strategy (25 mins):</a:t>
            </a:r>
            <a:r>
              <a:rPr lang="en-US" sz="1800" dirty="0">
                <a:ea typeface="+mn-lt"/>
                <a:cs typeface="+mn-lt"/>
              </a:rPr>
              <a:t> </a:t>
            </a:r>
          </a:p>
          <a:p>
            <a:pPr marL="0" indent="0">
              <a:lnSpc>
                <a:spcPct val="100000"/>
              </a:lnSpc>
              <a:buNone/>
            </a:pPr>
            <a:r>
              <a:rPr lang="en-US" sz="1800" dirty="0">
                <a:ea typeface="+mn-lt"/>
                <a:cs typeface="+mn-lt"/>
              </a:rPr>
              <a:t>Use UX strategy components: </a:t>
            </a:r>
          </a:p>
          <a:p>
            <a:pPr marL="1428750" lvl="3" indent="-285750">
              <a:lnSpc>
                <a:spcPct val="100000"/>
              </a:lnSpc>
            </a:pPr>
            <a:r>
              <a:rPr lang="en-US" sz="1800" dirty="0">
                <a:ea typeface="+mn-lt"/>
                <a:cs typeface="+mn-lt"/>
              </a:rPr>
              <a:t>User Research: How would you gather user feedback? </a:t>
            </a:r>
          </a:p>
          <a:p>
            <a:pPr marL="1428750" lvl="3" indent="-285750">
              <a:lnSpc>
                <a:spcPct val="100000"/>
              </a:lnSpc>
            </a:pPr>
            <a:r>
              <a:rPr lang="en-US" sz="1800" dirty="0">
                <a:ea typeface="+mn-lt"/>
                <a:cs typeface="+mn-lt"/>
              </a:rPr>
              <a:t>Persona Development: Create a persona for a typical user.</a:t>
            </a:r>
          </a:p>
          <a:p>
            <a:pPr marL="1428750" lvl="3" indent="-285750">
              <a:lnSpc>
                <a:spcPct val="100000"/>
              </a:lnSpc>
            </a:pPr>
            <a:r>
              <a:rPr lang="en-US" sz="1800" dirty="0">
                <a:ea typeface="+mn-lt"/>
                <a:cs typeface="+mn-lt"/>
              </a:rPr>
              <a:t>Journey Mapping: Outline the user journey for key tasks. </a:t>
            </a:r>
          </a:p>
          <a:p>
            <a:pPr marL="1428750" lvl="3" indent="-285750">
              <a:lnSpc>
                <a:spcPct val="100000"/>
              </a:lnSpc>
            </a:pPr>
            <a:r>
              <a:rPr lang="en-US" sz="1800" dirty="0">
                <a:ea typeface="+mn-lt"/>
                <a:cs typeface="+mn-lt"/>
              </a:rPr>
              <a:t>Wireframing and Prototyping: Sketch initial ideas for improvements. </a:t>
            </a:r>
          </a:p>
          <a:p>
            <a:pPr marL="1428750" lvl="3" indent="-285750">
              <a:lnSpc>
                <a:spcPct val="100000"/>
              </a:lnSpc>
            </a:pPr>
            <a:r>
              <a:rPr lang="en-US" sz="1800" dirty="0">
                <a:ea typeface="+mn-lt"/>
                <a:cs typeface="+mn-lt"/>
              </a:rPr>
              <a:t>Usability Testing: Plan how you would test the new designs.</a:t>
            </a:r>
          </a:p>
          <a:p>
            <a:pPr marL="0" indent="0">
              <a:lnSpc>
                <a:spcPct val="100000"/>
              </a:lnSpc>
              <a:buNone/>
            </a:pPr>
            <a:r>
              <a:rPr lang="en-US" sz="1800" b="1" dirty="0">
                <a:ea typeface="+mn-lt"/>
                <a:cs typeface="+mn-lt"/>
              </a:rPr>
              <a:t>3.  Prepare and present an informal Presentation + Q/A (15 mins):</a:t>
            </a:r>
            <a:r>
              <a:rPr lang="en-US" sz="1800" dirty="0">
                <a:ea typeface="+mn-lt"/>
                <a:cs typeface="+mn-lt"/>
              </a:rPr>
              <a:t> Summarize your strategy and key improvements. Assign one group member to informally present or talk about your UX Strategy for the scenario. Class members can follow with Q/A.</a:t>
            </a:r>
            <a:endParaRPr lang="en-US" sz="1800" dirty="0">
              <a:ea typeface="Calibri"/>
              <a:cs typeface="Calibri" panose="020F0502020204030204"/>
            </a:endParaRPr>
          </a:p>
          <a:p>
            <a:pPr marL="0" indent="0">
              <a:buNone/>
            </a:pPr>
            <a:r>
              <a:rPr lang="en-US" sz="1800" dirty="0">
                <a:ea typeface="Calibri"/>
                <a:cs typeface="Calibri" panose="020F0502020204030204"/>
              </a:rPr>
              <a:t>4.</a:t>
            </a:r>
            <a:r>
              <a:rPr lang="en-US" sz="1800" b="1" dirty="0">
                <a:ea typeface="Calibri" panose="020F0502020204030204"/>
                <a:cs typeface="Calibri"/>
              </a:rPr>
              <a:t> Instructor Feedback (10 mins):</a:t>
            </a:r>
            <a:r>
              <a:rPr lang="en-US" sz="1800" dirty="0">
                <a:ea typeface="Calibri" panose="020F0502020204030204"/>
                <a:cs typeface="Calibri"/>
              </a:rPr>
              <a:t>In end the instructor will show you some potential results of UX Strategy that could be followed to enhance the UX of leading back mobile App.</a:t>
            </a:r>
          </a:p>
          <a:p>
            <a:pPr marL="0" indent="0">
              <a:buNone/>
            </a:pPr>
            <a:endParaRPr lang="en-US" sz="1800" b="1" dirty="0">
              <a:solidFill>
                <a:srgbClr val="000000"/>
              </a:solidFill>
              <a:ea typeface="Calibri" panose="020F0502020204030204"/>
              <a:cs typeface="Calibri"/>
            </a:endParaRPr>
          </a:p>
        </p:txBody>
      </p:sp>
    </p:spTree>
    <p:extLst>
      <p:ext uri="{BB962C8B-B14F-4D97-AF65-F5344CB8AC3E}">
        <p14:creationId xmlns:p14="http://schemas.microsoft.com/office/powerpoint/2010/main" val="1525653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Feedback - Persona</a:t>
            </a:r>
            <a:endParaRPr lang="en-GB" i="1" dirty="0"/>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a:xfrm>
            <a:off x="478800" y="1249200"/>
            <a:ext cx="5617200" cy="5144400"/>
          </a:xfrm>
        </p:spPr>
        <p:txBody>
          <a:bodyPr vert="horz" lIns="91440" tIns="45720" rIns="91440" bIns="45720" rtlCol="0" anchor="t">
            <a:normAutofit fontScale="92500" lnSpcReduction="10000"/>
          </a:bodyPr>
          <a:lstStyle/>
          <a:p>
            <a:pPr>
              <a:buNone/>
            </a:pPr>
            <a:r>
              <a:rPr lang="en-GB" sz="3600" b="1" dirty="0">
                <a:ea typeface="+mn-lt"/>
                <a:cs typeface="+mn-lt"/>
              </a:rPr>
              <a:t>Persona: </a:t>
            </a:r>
            <a:endParaRPr lang="en-US" sz="2400" dirty="0">
              <a:ea typeface="+mn-lt"/>
              <a:cs typeface="+mn-lt"/>
            </a:endParaRPr>
          </a:p>
          <a:p>
            <a:pPr>
              <a:buNone/>
            </a:pPr>
            <a:r>
              <a:rPr lang="en-GB" sz="2400" b="1" dirty="0">
                <a:ea typeface="+mn-lt"/>
                <a:cs typeface="+mn-lt"/>
              </a:rPr>
              <a:t>Sarah, 32, Working Professional:</a:t>
            </a:r>
            <a:r>
              <a:rPr lang="en-GB" sz="2400" dirty="0">
                <a:ea typeface="+mn-lt"/>
                <a:cs typeface="+mn-lt"/>
              </a:rPr>
              <a:t> </a:t>
            </a:r>
            <a:endParaRPr lang="en-US" sz="2400" dirty="0">
              <a:ea typeface="+mn-lt"/>
              <a:cs typeface="+mn-lt"/>
            </a:endParaRPr>
          </a:p>
          <a:p>
            <a:pPr>
              <a:buNone/>
            </a:pPr>
            <a:r>
              <a:rPr lang="en-GB" sz="2400" dirty="0">
                <a:ea typeface="+mn-lt"/>
                <a:cs typeface="+mn-lt"/>
              </a:rPr>
              <a:t>Background: Works in marketing. Uses the app for daily banking and bill payments.</a:t>
            </a:r>
          </a:p>
          <a:p>
            <a:pPr>
              <a:buNone/>
            </a:pPr>
            <a:r>
              <a:rPr lang="en-GB" sz="2400" b="1" dirty="0">
                <a:ea typeface="+mn-lt"/>
                <a:cs typeface="+mn-lt"/>
              </a:rPr>
              <a:t>Goals:</a:t>
            </a:r>
            <a:r>
              <a:rPr lang="en-GB" sz="2400" dirty="0">
                <a:ea typeface="+mn-lt"/>
                <a:cs typeface="+mn-lt"/>
              </a:rPr>
              <a:t> Quick and easy transactions. Secure access to account information.</a:t>
            </a:r>
            <a:endParaRPr lang="en-GB" sz="2400" dirty="0">
              <a:cs typeface="Calibri"/>
            </a:endParaRPr>
          </a:p>
          <a:p>
            <a:pPr>
              <a:buNone/>
            </a:pPr>
            <a:r>
              <a:rPr lang="en-GB" sz="2400" b="1" dirty="0">
                <a:ea typeface="+mn-lt"/>
                <a:cs typeface="+mn-lt"/>
              </a:rPr>
              <a:t>Frustrations:</a:t>
            </a:r>
            <a:r>
              <a:rPr lang="en-GB" sz="2400" dirty="0">
                <a:ea typeface="+mn-lt"/>
                <a:cs typeface="+mn-lt"/>
              </a:rPr>
              <a:t> Finds the current app navigation confusing. Often has to call support for help with transactions.</a:t>
            </a:r>
          </a:p>
        </p:txBody>
      </p:sp>
      <p:pic>
        <p:nvPicPr>
          <p:cNvPr id="4" name="Picture 3">
            <a:extLst>
              <a:ext uri="{FF2B5EF4-FFF2-40B4-BE49-F238E27FC236}">
                <a16:creationId xmlns:a16="http://schemas.microsoft.com/office/drawing/2014/main" id="{977A5D0B-60C8-CC75-371E-C3B4D768DEF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82321" y="2019319"/>
            <a:ext cx="5130879" cy="3604162"/>
          </a:xfrm>
          <a:prstGeom prst="rect">
            <a:avLst/>
          </a:prstGeom>
          <a:effectLst>
            <a:softEdge rad="63500"/>
          </a:effectLst>
        </p:spPr>
      </p:pic>
      <p:sp>
        <p:nvSpPr>
          <p:cNvPr id="5" name="TextBox 4">
            <a:extLst>
              <a:ext uri="{FF2B5EF4-FFF2-40B4-BE49-F238E27FC236}">
                <a16:creationId xmlns:a16="http://schemas.microsoft.com/office/drawing/2014/main" id="{680B5033-63D5-D29A-5CA9-36BA1BA52AD0}"/>
              </a:ext>
            </a:extLst>
          </p:cNvPr>
          <p:cNvSpPr txBox="1"/>
          <p:nvPr/>
        </p:nvSpPr>
        <p:spPr>
          <a:xfrm>
            <a:off x="6582321" y="5623481"/>
            <a:ext cx="17277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63532"/>
                </a:solidFill>
                <a:effectLst/>
                <a:uLnTx/>
                <a:uFillTx/>
                <a:latin typeface="Arial" panose="020B0604020202020204" pitchFamily="34" charset="0"/>
                <a:ea typeface="+mn-ea"/>
                <a:cs typeface="Arial" panose="020B0604020202020204" pitchFamily="34" charset="0"/>
              </a:rPr>
              <a:t>(Warren 2024)</a:t>
            </a:r>
          </a:p>
        </p:txBody>
      </p:sp>
    </p:spTree>
    <p:extLst>
      <p:ext uri="{BB962C8B-B14F-4D97-AF65-F5344CB8AC3E}">
        <p14:creationId xmlns:p14="http://schemas.microsoft.com/office/powerpoint/2010/main" val="2195826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Feedback – Journey Mapping</a:t>
            </a:r>
            <a:endParaRPr lang="en-GB" i="1" dirty="0"/>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a:xfrm>
            <a:off x="478800" y="1249200"/>
            <a:ext cx="5617200" cy="5531846"/>
          </a:xfrm>
        </p:spPr>
        <p:txBody>
          <a:bodyPr vert="horz" lIns="91440" tIns="45720" rIns="91440" bIns="45720" rtlCol="0" anchor="t">
            <a:normAutofit fontScale="77500" lnSpcReduction="20000"/>
          </a:bodyPr>
          <a:lstStyle/>
          <a:p>
            <a:pPr>
              <a:buNone/>
            </a:pPr>
            <a:r>
              <a:rPr lang="en-GB" sz="2600" b="1" dirty="0">
                <a:ea typeface="+mn-lt"/>
                <a:cs typeface="+mn-lt"/>
              </a:rPr>
              <a:t>Journey Mapping Stages: </a:t>
            </a:r>
            <a:endParaRPr lang="en-US" sz="2600" dirty="0">
              <a:ea typeface="+mn-lt"/>
              <a:cs typeface="+mn-lt"/>
            </a:endParaRPr>
          </a:p>
          <a:p>
            <a:pPr marL="914400" lvl="1" indent="-457200">
              <a:buAutoNum type="arabicPeriod"/>
            </a:pPr>
            <a:r>
              <a:rPr lang="en-GB" dirty="0">
                <a:ea typeface="+mn-lt"/>
                <a:cs typeface="+mn-lt"/>
              </a:rPr>
              <a:t>Login: User Action: Sarah opens the app and logs in. Pain Points: Lengthy login process, frequent password resets. </a:t>
            </a:r>
          </a:p>
          <a:p>
            <a:pPr marL="914400" lvl="1" indent="-457200">
              <a:buAutoNum type="arabicPeriod"/>
            </a:pPr>
            <a:r>
              <a:rPr lang="en-GB" dirty="0">
                <a:ea typeface="+mn-lt"/>
                <a:cs typeface="+mn-lt"/>
              </a:rPr>
              <a:t>Checking Balance: User Action: Sarah checks her account balance. Pain Points: Confusing navigation to the balance screen. </a:t>
            </a:r>
          </a:p>
          <a:p>
            <a:pPr marL="914400" lvl="1" indent="-457200">
              <a:buAutoNum type="arabicPeriod"/>
            </a:pPr>
            <a:r>
              <a:rPr lang="en-GB" dirty="0">
                <a:ea typeface="+mn-lt"/>
                <a:cs typeface="+mn-lt"/>
              </a:rPr>
              <a:t>Making a Payment: User Action: Sarah pays a bill. Pain Points: Complicated steps to complete the payment.</a:t>
            </a:r>
            <a:endParaRPr lang="en-US" dirty="0">
              <a:ea typeface="+mn-lt"/>
              <a:cs typeface="+mn-lt"/>
            </a:endParaRPr>
          </a:p>
          <a:p>
            <a:pPr>
              <a:buNone/>
            </a:pPr>
            <a:r>
              <a:rPr lang="en-GB" sz="2600" b="1" dirty="0">
                <a:ea typeface="+mn-lt"/>
                <a:cs typeface="+mn-lt"/>
              </a:rPr>
              <a:t>Improvements:</a:t>
            </a:r>
            <a:r>
              <a:rPr lang="en-GB" sz="2400" dirty="0">
                <a:ea typeface="+mn-lt"/>
                <a:cs typeface="+mn-lt"/>
              </a:rPr>
              <a:t> </a:t>
            </a:r>
            <a:r>
              <a:rPr lang="en-GB" sz="2200" dirty="0">
                <a:ea typeface="+mn-lt"/>
                <a:cs typeface="+mn-lt"/>
              </a:rPr>
              <a:t>Simplify the login process with biometric options. Streamline navigation to key features. Reduce steps required for common transactions.</a:t>
            </a:r>
          </a:p>
        </p:txBody>
      </p:sp>
      <p:pic>
        <p:nvPicPr>
          <p:cNvPr id="9" name="Picture 8" descr="Pins in a map">
            <a:extLst>
              <a:ext uri="{FF2B5EF4-FFF2-40B4-BE49-F238E27FC236}">
                <a16:creationId xmlns:a16="http://schemas.microsoft.com/office/drawing/2014/main" id="{C6626D33-EFFA-E1B0-3D2A-A12947FAA4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2321" y="1760762"/>
            <a:ext cx="5005936" cy="3336476"/>
          </a:xfrm>
          <a:prstGeom prst="rect">
            <a:avLst/>
          </a:prstGeom>
          <a:effectLst>
            <a:softEdge rad="63500"/>
          </a:effectLst>
        </p:spPr>
      </p:pic>
    </p:spTree>
    <p:extLst>
      <p:ext uri="{BB962C8B-B14F-4D97-AF65-F5344CB8AC3E}">
        <p14:creationId xmlns:p14="http://schemas.microsoft.com/office/powerpoint/2010/main" val="2283392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Feedback - Wireframe</a:t>
            </a:r>
            <a:endParaRPr lang="en-GB" i="1" dirty="0"/>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a:xfrm>
            <a:off x="478800" y="1249200"/>
            <a:ext cx="5617200" cy="5446800"/>
          </a:xfrm>
        </p:spPr>
        <p:txBody>
          <a:bodyPr vert="horz" lIns="91440" tIns="45720" rIns="91440" bIns="45720" rtlCol="0" anchor="t">
            <a:normAutofit fontScale="62500" lnSpcReduction="20000"/>
          </a:bodyPr>
          <a:lstStyle/>
          <a:p>
            <a:pPr marL="0" indent="0">
              <a:buNone/>
            </a:pPr>
            <a:r>
              <a:rPr lang="en-GB" sz="3200" b="1" dirty="0">
                <a:ea typeface="+mn-lt"/>
                <a:cs typeface="+mn-lt"/>
              </a:rPr>
              <a:t>Login Screen Wireframe</a:t>
            </a:r>
          </a:p>
          <a:p>
            <a:pPr marL="0" indent="0">
              <a:buNone/>
            </a:pPr>
            <a:r>
              <a:rPr lang="en-GB" sz="2800" b="1" dirty="0">
                <a:ea typeface="+mn-lt"/>
                <a:cs typeface="+mn-lt"/>
              </a:rPr>
              <a:t>Features: </a:t>
            </a:r>
          </a:p>
          <a:p>
            <a:pPr lvl="1"/>
            <a:r>
              <a:rPr lang="en-GB" sz="2400" dirty="0">
                <a:ea typeface="+mn-lt"/>
                <a:cs typeface="+mn-lt"/>
              </a:rPr>
              <a:t>Biometric Login: Option to use fingerprint or facial recognition. </a:t>
            </a:r>
          </a:p>
          <a:p>
            <a:pPr lvl="1"/>
            <a:r>
              <a:rPr lang="en-GB" sz="2400" dirty="0">
                <a:ea typeface="+mn-lt"/>
                <a:cs typeface="+mn-lt"/>
              </a:rPr>
              <a:t>Quick Access: Simplified navigation to key features (balance, payments). </a:t>
            </a:r>
          </a:p>
          <a:p>
            <a:pPr lvl="1"/>
            <a:r>
              <a:rPr lang="en-GB" sz="2400" dirty="0">
                <a:ea typeface="+mn-lt"/>
                <a:cs typeface="+mn-lt"/>
              </a:rPr>
              <a:t>Help Button: Direct access to support if needed.</a:t>
            </a:r>
            <a:endParaRPr lang="en-US" sz="2400" dirty="0">
              <a:ea typeface="+mn-lt"/>
              <a:cs typeface="+mn-lt"/>
            </a:endParaRPr>
          </a:p>
          <a:p>
            <a:pPr marL="0" indent="0">
              <a:buNone/>
            </a:pPr>
            <a:r>
              <a:rPr lang="en-US" sz="3200" b="1" dirty="0">
                <a:ea typeface="+mn-lt"/>
                <a:cs typeface="+mn-lt"/>
              </a:rPr>
              <a:t>Payment Screen Wireframe</a:t>
            </a:r>
          </a:p>
          <a:p>
            <a:pPr marL="0" indent="0">
              <a:buNone/>
            </a:pPr>
            <a:r>
              <a:rPr lang="en-GB" sz="2700" b="1" dirty="0">
                <a:ea typeface="+mn-lt"/>
                <a:cs typeface="+mn-lt"/>
              </a:rPr>
              <a:t>Features:</a:t>
            </a:r>
          </a:p>
          <a:p>
            <a:pPr lvl="1"/>
            <a:r>
              <a:rPr lang="en-GB" sz="2600" dirty="0">
                <a:ea typeface="+mn-lt"/>
                <a:cs typeface="+mn-lt"/>
              </a:rPr>
              <a:t>Streamlined Payment Process: Fewer steps to complete a transaction. </a:t>
            </a:r>
          </a:p>
          <a:p>
            <a:pPr lvl="1"/>
            <a:r>
              <a:rPr lang="en-GB" sz="2600" dirty="0">
                <a:ea typeface="+mn-lt"/>
                <a:cs typeface="+mn-lt"/>
              </a:rPr>
              <a:t>Clear Instructions: Step-by-step guidance. </a:t>
            </a:r>
          </a:p>
          <a:p>
            <a:pPr lvl="1"/>
            <a:r>
              <a:rPr lang="en-GB" sz="2600" dirty="0">
                <a:ea typeface="+mn-lt"/>
                <a:cs typeface="+mn-lt"/>
              </a:rPr>
              <a:t>Confirmation Message: Immediate feedback on transaction status.</a:t>
            </a:r>
            <a:endParaRPr lang="en-GB" sz="2600" dirty="0"/>
          </a:p>
        </p:txBody>
      </p:sp>
      <p:pic>
        <p:nvPicPr>
          <p:cNvPr id="7" name="Picture 6" descr="A person reaching for a paper on a table full of paper and sticky notes">
            <a:extLst>
              <a:ext uri="{FF2B5EF4-FFF2-40B4-BE49-F238E27FC236}">
                <a16:creationId xmlns:a16="http://schemas.microsoft.com/office/drawing/2014/main" id="{11FEF5F5-75B2-D0B2-5381-9B03AC304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5020" y="1714500"/>
            <a:ext cx="5138180" cy="3429000"/>
          </a:xfrm>
          <a:prstGeom prst="rect">
            <a:avLst/>
          </a:prstGeom>
          <a:effectLst>
            <a:softEdge rad="63500"/>
          </a:effectLst>
        </p:spPr>
      </p:pic>
    </p:spTree>
    <p:extLst>
      <p:ext uri="{BB962C8B-B14F-4D97-AF65-F5344CB8AC3E}">
        <p14:creationId xmlns:p14="http://schemas.microsoft.com/office/powerpoint/2010/main" val="2827897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Feedback – Usability Testing Plan </a:t>
            </a:r>
            <a:endParaRPr lang="en-GB" i="1" dirty="0"/>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a:xfrm>
            <a:off x="478800" y="1249200"/>
            <a:ext cx="5617200" cy="5608800"/>
          </a:xfrm>
        </p:spPr>
        <p:txBody>
          <a:bodyPr vert="horz" lIns="91440" tIns="45720" rIns="91440" bIns="45720" rtlCol="0" anchor="t">
            <a:normAutofit fontScale="47500" lnSpcReduction="20000"/>
          </a:bodyPr>
          <a:lstStyle/>
          <a:p>
            <a:pPr marL="0" indent="0">
              <a:buNone/>
            </a:pPr>
            <a:r>
              <a:rPr lang="en-GB" sz="3600" b="1" dirty="0">
                <a:ea typeface="+mn-lt"/>
                <a:cs typeface="+mn-lt"/>
              </a:rPr>
              <a:t>Objectives:</a:t>
            </a:r>
          </a:p>
          <a:p>
            <a:pPr lvl="1"/>
            <a:r>
              <a:rPr lang="en-GB" sz="3200" dirty="0">
                <a:ea typeface="+mn-lt"/>
                <a:cs typeface="+mn-lt"/>
              </a:rPr>
              <a:t>Evaluate the effectiveness of the redesigned screens.</a:t>
            </a:r>
          </a:p>
          <a:p>
            <a:pPr lvl="1"/>
            <a:r>
              <a:rPr lang="en-GB" sz="3200" dirty="0">
                <a:ea typeface="+mn-lt"/>
                <a:cs typeface="+mn-lt"/>
              </a:rPr>
              <a:t>Identify any remaining usability issues.</a:t>
            </a:r>
          </a:p>
          <a:p>
            <a:pPr marL="0" indent="0">
              <a:buNone/>
            </a:pPr>
            <a:r>
              <a:rPr lang="en-US" sz="3600" b="1" dirty="0">
                <a:ea typeface="+mn-lt"/>
                <a:cs typeface="+mn-lt"/>
              </a:rPr>
              <a:t>Methodology:</a:t>
            </a:r>
          </a:p>
          <a:p>
            <a:pPr lvl="1"/>
            <a:r>
              <a:rPr lang="en-GB" sz="3200" b="1" dirty="0">
                <a:ea typeface="+mn-lt"/>
                <a:cs typeface="+mn-lt"/>
              </a:rPr>
              <a:t>Participants:</a:t>
            </a:r>
            <a:r>
              <a:rPr lang="en-GB" sz="3200" dirty="0">
                <a:ea typeface="+mn-lt"/>
                <a:cs typeface="+mn-lt"/>
              </a:rPr>
              <a:t> Recruit 5-7 users representative of the target audience.</a:t>
            </a:r>
          </a:p>
          <a:p>
            <a:pPr lvl="1"/>
            <a:r>
              <a:rPr lang="en-GB" sz="3200" b="1" dirty="0">
                <a:ea typeface="+mn-lt"/>
                <a:cs typeface="+mn-lt"/>
              </a:rPr>
              <a:t>Task 1:</a:t>
            </a:r>
            <a:r>
              <a:rPr lang="en-GB" sz="3200" dirty="0">
                <a:ea typeface="+mn-lt"/>
                <a:cs typeface="+mn-lt"/>
              </a:rPr>
              <a:t> Log in using the new biometric option.</a:t>
            </a:r>
          </a:p>
          <a:p>
            <a:pPr lvl="1"/>
            <a:r>
              <a:rPr lang="en-GB" sz="3200" b="1" dirty="0">
                <a:ea typeface="+mn-lt"/>
                <a:cs typeface="+mn-lt"/>
              </a:rPr>
              <a:t>Task 2:</a:t>
            </a:r>
            <a:r>
              <a:rPr lang="en-GB" sz="3200" dirty="0">
                <a:ea typeface="+mn-lt"/>
                <a:cs typeface="+mn-lt"/>
              </a:rPr>
              <a:t> Check account balance. Task 3: Make a payment. </a:t>
            </a:r>
          </a:p>
          <a:p>
            <a:pPr lvl="1"/>
            <a:r>
              <a:rPr lang="en-GB" sz="3200" b="1" dirty="0">
                <a:ea typeface="+mn-lt"/>
                <a:cs typeface="+mn-lt"/>
              </a:rPr>
              <a:t>Metrics:</a:t>
            </a:r>
            <a:r>
              <a:rPr lang="en-GB" sz="3200" dirty="0">
                <a:ea typeface="+mn-lt"/>
                <a:cs typeface="+mn-lt"/>
              </a:rPr>
              <a:t> Task completion time. Number of errors encountered. User satisfaction ratings.</a:t>
            </a:r>
          </a:p>
          <a:p>
            <a:pPr marL="0" indent="0">
              <a:buNone/>
            </a:pPr>
            <a:r>
              <a:rPr lang="en-GB" sz="3600" b="1" dirty="0">
                <a:ea typeface="+mn-lt"/>
                <a:cs typeface="+mn-lt"/>
              </a:rPr>
              <a:t>Feedback Collection:</a:t>
            </a:r>
          </a:p>
          <a:p>
            <a:pPr lvl="1"/>
            <a:r>
              <a:rPr lang="en-GB" sz="3200" dirty="0"/>
              <a:t>Conduct post-test interviews to gather qualitative feedback. Use screen recording to capture user interactions.</a:t>
            </a:r>
          </a:p>
        </p:txBody>
      </p:sp>
      <p:pic>
        <p:nvPicPr>
          <p:cNvPr id="7" name="Picture 6" descr="Mobile phone and text message bubbles">
            <a:extLst>
              <a:ext uri="{FF2B5EF4-FFF2-40B4-BE49-F238E27FC236}">
                <a16:creationId xmlns:a16="http://schemas.microsoft.com/office/drawing/2014/main" id="{6DB05D79-2B7F-C42C-27CF-E4624E5CAE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0796" y="1679510"/>
            <a:ext cx="5472404" cy="3648269"/>
          </a:xfrm>
          <a:prstGeom prst="rect">
            <a:avLst/>
          </a:prstGeom>
          <a:effectLst>
            <a:softEdge rad="63500"/>
          </a:effectLst>
        </p:spPr>
      </p:pic>
    </p:spTree>
    <p:extLst>
      <p:ext uri="{BB962C8B-B14F-4D97-AF65-F5344CB8AC3E}">
        <p14:creationId xmlns:p14="http://schemas.microsoft.com/office/powerpoint/2010/main" val="2417261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recap</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lnSpcReduction="10000"/>
          </a:bodyPr>
          <a:lstStyle/>
          <a:p>
            <a:pPr marL="0" indent="0">
              <a:buNone/>
            </a:pPr>
            <a:r>
              <a:rPr lang="en-GB" dirty="0"/>
              <a:t>In today’s session, you practiced with a scenario, and we concluded that applying UX strategy involves understanding user needs, creating personas, mapping user journeys, designing wireframes, and conducting usability testing. </a:t>
            </a:r>
          </a:p>
          <a:p>
            <a:pPr marL="0" indent="0">
              <a:buNone/>
            </a:pPr>
            <a:r>
              <a:rPr lang="en-GB" dirty="0"/>
              <a:t>The hands-on session aimed to provide practical experience in developing and implementing a UX strategy.</a:t>
            </a:r>
          </a:p>
          <a:p>
            <a:pPr marL="0" indent="0">
              <a:buNone/>
            </a:pPr>
            <a:endParaRPr lang="en-GB" dirty="0"/>
          </a:p>
          <a:p>
            <a:pPr marL="0" indent="0">
              <a:buNone/>
            </a:pPr>
            <a:r>
              <a:rPr lang="en-GB" dirty="0"/>
              <a:t>If you need some extra practice, you can use the resources listed after each activity, and there are materials available for self-study in the VLE platform.</a:t>
            </a:r>
          </a:p>
        </p:txBody>
      </p:sp>
    </p:spTree>
    <p:extLst>
      <p:ext uri="{BB962C8B-B14F-4D97-AF65-F5344CB8AC3E}">
        <p14:creationId xmlns:p14="http://schemas.microsoft.com/office/powerpoint/2010/main" val="270310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References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fontScale="70000" lnSpcReduction="20000"/>
          </a:bodyPr>
          <a:lstStyle/>
          <a:p>
            <a:pPr>
              <a:lnSpc>
                <a:spcPct val="140000"/>
              </a:lnSpc>
              <a:buNone/>
            </a:pPr>
            <a:r>
              <a:rPr lang="en-GB" sz="2000" dirty="0"/>
              <a:t>INTERACTION DESIGN FOUNDATION – </a:t>
            </a:r>
            <a:r>
              <a:rPr lang="en-GB" sz="2000" dirty="0" err="1"/>
              <a:t>IxDF</a:t>
            </a:r>
            <a:r>
              <a:rPr lang="en-GB" sz="2000" dirty="0"/>
              <a:t>, 2020. </a:t>
            </a:r>
            <a:r>
              <a:rPr lang="en-GB" sz="2000" i="1" dirty="0"/>
              <a:t>UX / UI Topics. </a:t>
            </a:r>
            <a:r>
              <a:rPr lang="en-GB" sz="2000" dirty="0"/>
              <a:t>[viewed 09 June 2024]. Available from: </a:t>
            </a:r>
            <a:r>
              <a:rPr lang="en-GB" sz="2000" dirty="0">
                <a:hlinkClick r:id="rId2"/>
              </a:rPr>
              <a:t>https://www.interaction-design.org/literature/topics</a:t>
            </a:r>
            <a:r>
              <a:rPr lang="en-GB" sz="2000" dirty="0"/>
              <a:t>. </a:t>
            </a:r>
          </a:p>
          <a:p>
            <a:pPr marL="0" indent="0">
              <a:buNone/>
            </a:pPr>
            <a:r>
              <a:rPr lang="en-GB" sz="2000" dirty="0">
                <a:ea typeface="Verdana"/>
              </a:rPr>
              <a:t>FARRELL, S. 2017. UX Research Cheat Sheet. In </a:t>
            </a:r>
            <a:r>
              <a:rPr lang="en-GB" sz="2000" i="1" dirty="0">
                <a:ea typeface="Verdana"/>
              </a:rPr>
              <a:t>Norman Nielsen Group. </a:t>
            </a:r>
            <a:r>
              <a:rPr lang="en-GB" sz="2000" dirty="0">
                <a:ea typeface="Verdana"/>
              </a:rPr>
              <a:t>[viewed 09 June 2024] Available from: </a:t>
            </a:r>
            <a:r>
              <a:rPr lang="en-GB" sz="2000" dirty="0">
                <a:ea typeface="Verdana"/>
                <a:hlinkClick r:id="rId3"/>
              </a:rPr>
              <a:t>https://www.nngroup.com/articles/ux-research-cheat-sheet/</a:t>
            </a:r>
            <a:r>
              <a:rPr lang="en-GB" sz="2000" dirty="0">
                <a:ea typeface="Verdana"/>
              </a:rPr>
              <a:t>. </a:t>
            </a:r>
          </a:p>
          <a:p>
            <a:pPr marL="0" indent="0">
              <a:buNone/>
            </a:pPr>
            <a:r>
              <a:rPr lang="en-GB" sz="2000" dirty="0">
                <a:ea typeface="Verdana"/>
              </a:rPr>
              <a:t>COOPER, A., 1999. </a:t>
            </a:r>
            <a:r>
              <a:rPr lang="en-GB" sz="2000" i="1" dirty="0">
                <a:ea typeface="Verdana"/>
              </a:rPr>
              <a:t>The Inmates Are Running the Asylum: Why High Tech Products Drive Us Crazy and How to Restore the Sanity</a:t>
            </a:r>
            <a:r>
              <a:rPr lang="en-GB" sz="2000" dirty="0">
                <a:ea typeface="Verdana"/>
              </a:rPr>
              <a:t>. Sams.</a:t>
            </a:r>
          </a:p>
          <a:p>
            <a:pPr marL="0" indent="0">
              <a:buNone/>
            </a:pPr>
            <a:r>
              <a:rPr lang="en-GB" sz="2000" dirty="0">
                <a:ea typeface="Verdana"/>
              </a:rPr>
              <a:t>ROSENFELD, L., MORVILLE, P., and ARANGO, J., 2015. </a:t>
            </a:r>
            <a:r>
              <a:rPr lang="en-GB" sz="2000" i="1" dirty="0">
                <a:ea typeface="Verdana"/>
              </a:rPr>
              <a:t>Information Architecture for the Web and Beyond</a:t>
            </a:r>
            <a:r>
              <a:rPr lang="en-GB" sz="2000" dirty="0">
                <a:ea typeface="Verdana"/>
              </a:rPr>
              <a:t>. O'Reilly Media.</a:t>
            </a:r>
          </a:p>
          <a:p>
            <a:pPr marL="0" indent="0">
              <a:buNone/>
            </a:pPr>
            <a:r>
              <a:rPr lang="en-GB" sz="2000" dirty="0">
                <a:ea typeface="Verdana"/>
              </a:rPr>
              <a:t>KRUG, S., 2014. </a:t>
            </a:r>
            <a:r>
              <a:rPr lang="en-GB" sz="2000" i="1" dirty="0">
                <a:ea typeface="Verdana"/>
              </a:rPr>
              <a:t>Don't Make Me Think, Revisited: A Common Sense Approach to Web Usabilit</a:t>
            </a:r>
            <a:r>
              <a:rPr lang="en-GB" sz="2000" dirty="0">
                <a:ea typeface="Verdana"/>
              </a:rPr>
              <a:t>y. Berkeley: New Riders.</a:t>
            </a:r>
          </a:p>
          <a:p>
            <a:pPr marL="0" indent="0">
              <a:buNone/>
            </a:pPr>
            <a:r>
              <a:rPr lang="en-GB" sz="2000" dirty="0">
                <a:ea typeface="Verdana"/>
              </a:rPr>
              <a:t>KALBACH, J., 2016. </a:t>
            </a:r>
            <a:r>
              <a:rPr lang="en-GB" sz="2000" i="1" dirty="0">
                <a:ea typeface="Verdana"/>
              </a:rPr>
              <a:t>Mapping Experiences: A Complete Guide to Creating Value through Journeys, Blueprints, and Diagrams.</a:t>
            </a:r>
            <a:r>
              <a:rPr lang="en-GB" sz="2000" dirty="0">
                <a:ea typeface="Verdana"/>
              </a:rPr>
              <a:t> O'Reilly Media.</a:t>
            </a:r>
          </a:p>
          <a:p>
            <a:pPr marL="0" indent="0">
              <a:buNone/>
            </a:pPr>
            <a:r>
              <a:rPr lang="en-GB" sz="2000" dirty="0">
                <a:ea typeface="Verdana"/>
              </a:rPr>
              <a:t>WARREN, B. 2024. Visualize your ideal customer with a persona made in </a:t>
            </a:r>
            <a:r>
              <a:rPr lang="en-GB" sz="2000" dirty="0" err="1">
                <a:ea typeface="Verdana"/>
              </a:rPr>
              <a:t>Milanote</a:t>
            </a:r>
            <a:r>
              <a:rPr lang="en-GB" sz="2000" dirty="0">
                <a:ea typeface="Verdana"/>
              </a:rPr>
              <a:t>. In </a:t>
            </a:r>
            <a:r>
              <a:rPr lang="en-GB" sz="2000" i="1" dirty="0" err="1">
                <a:ea typeface="Verdana"/>
              </a:rPr>
              <a:t>Milanote</a:t>
            </a:r>
            <a:r>
              <a:rPr lang="en-GB" sz="2000" dirty="0">
                <a:ea typeface="Verdana"/>
              </a:rPr>
              <a:t>. [viewed 09 June 2024] Available at: </a:t>
            </a:r>
            <a:r>
              <a:rPr lang="en-GB" sz="2000" dirty="0">
                <a:solidFill>
                  <a:srgbClr val="0563C1"/>
                </a:solidFill>
                <a:ea typeface="Verdana"/>
                <a:hlinkClick r:id="rId4">
                  <a:extLst>
                    <a:ext uri="{A12FA001-AC4F-418D-AE19-62706E023703}">
                      <ahyp:hlinkClr xmlns:ahyp="http://schemas.microsoft.com/office/drawing/2018/hyperlinkcolor" val="tx"/>
                    </a:ext>
                  </a:extLst>
                </a:hlinkClick>
              </a:rPr>
              <a:t>https://milanote.com/guide/persona</a:t>
            </a:r>
            <a:endParaRPr lang="en-GB" sz="2000" dirty="0">
              <a:ea typeface="Verdana"/>
            </a:endParaRPr>
          </a:p>
        </p:txBody>
      </p:sp>
    </p:spTree>
    <p:extLst>
      <p:ext uri="{BB962C8B-B14F-4D97-AF65-F5344CB8AC3E}">
        <p14:creationId xmlns:p14="http://schemas.microsoft.com/office/powerpoint/2010/main" val="1313568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5E2E-4931-6CFC-8ABE-7EAB64C68954}"/>
              </a:ext>
            </a:extLst>
          </p:cNvPr>
          <p:cNvSpPr>
            <a:spLocks noGrp="1"/>
          </p:cNvSpPr>
          <p:nvPr>
            <p:ph type="title"/>
          </p:nvPr>
        </p:nvSpPr>
        <p:spPr/>
        <p:txBody>
          <a:bodyPr/>
          <a:lstStyle/>
          <a:p>
            <a:r>
              <a:rPr lang="en-GB"/>
              <a:t>Assessment Clinic</a:t>
            </a:r>
          </a:p>
        </p:txBody>
      </p:sp>
      <p:sp>
        <p:nvSpPr>
          <p:cNvPr id="3" name="Subtitle 2">
            <a:extLst>
              <a:ext uri="{FF2B5EF4-FFF2-40B4-BE49-F238E27FC236}">
                <a16:creationId xmlns:a16="http://schemas.microsoft.com/office/drawing/2014/main" id="{18E11059-E64B-F409-6BD7-2B552008CB68}"/>
              </a:ext>
            </a:extLst>
          </p:cNvPr>
          <p:cNvSpPr>
            <a:spLocks noGrp="1"/>
          </p:cNvSpPr>
          <p:nvPr>
            <p:ph type="body" sz="quarter" idx="10"/>
          </p:nvPr>
        </p:nvSpPr>
        <p:spPr/>
        <p:txBody>
          <a:bodyPr/>
          <a:lstStyle/>
          <a:p>
            <a:r>
              <a:rPr lang="en-GB" dirty="0"/>
              <a:t>Week 1 | UX Strategies</a:t>
            </a:r>
          </a:p>
        </p:txBody>
      </p:sp>
    </p:spTree>
    <p:extLst>
      <p:ext uri="{BB962C8B-B14F-4D97-AF65-F5344CB8AC3E}">
        <p14:creationId xmlns:p14="http://schemas.microsoft.com/office/powerpoint/2010/main" val="183226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Outline</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a:bodyPr>
          <a:lstStyle/>
          <a:p>
            <a:pPr marL="0" indent="0">
              <a:buNone/>
            </a:pPr>
            <a:r>
              <a:rPr lang="en-GB" dirty="0"/>
              <a:t>In this week’s seminar session, we will get acquainted with the UX Strategies Assessment.</a:t>
            </a:r>
          </a:p>
          <a:p>
            <a:r>
              <a:rPr lang="en-GB" dirty="0"/>
              <a:t>We will go through each part of the Assessment step-by-step, with ample time for any questions you may have.</a:t>
            </a:r>
          </a:p>
          <a:p>
            <a:r>
              <a:rPr lang="en-GB" dirty="0">
                <a:ea typeface="Calibri"/>
                <a:cs typeface="Calibri"/>
              </a:rPr>
              <a:t>In future Assessment Clinics, we will go into greater detail on each section, providing further guidance and support</a:t>
            </a:r>
          </a:p>
          <a:p>
            <a:pPr marL="0" indent="0">
              <a:buNone/>
            </a:pPr>
            <a:endParaRPr lang="en-GB" dirty="0"/>
          </a:p>
        </p:txBody>
      </p:sp>
    </p:spTree>
    <p:extLst>
      <p:ext uri="{BB962C8B-B14F-4D97-AF65-F5344CB8AC3E}">
        <p14:creationId xmlns:p14="http://schemas.microsoft.com/office/powerpoint/2010/main" val="191768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UX Strategies Assessment Task</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lIns="91440" tIns="45720" rIns="91440" bIns="45720" anchor="t">
            <a:normAutofit/>
          </a:bodyPr>
          <a:lstStyle/>
          <a:p>
            <a:r>
              <a:rPr lang="en-GB" b="1" dirty="0">
                <a:latin typeface="Arial"/>
                <a:cs typeface="Arial"/>
              </a:rPr>
              <a:t>Project Aim: </a:t>
            </a:r>
            <a:r>
              <a:rPr lang="en-GB" sz="2200" dirty="0">
                <a:latin typeface="Arial"/>
                <a:cs typeface="Arial"/>
              </a:rPr>
              <a:t>Research and </a:t>
            </a:r>
            <a:r>
              <a:rPr lang="en-GB" sz="2200">
                <a:latin typeface="Arial"/>
                <a:cs typeface="Arial"/>
              </a:rPr>
              <a:t>analyse the UX strategy for the AI Business Teacher Matic.</a:t>
            </a:r>
          </a:p>
          <a:p>
            <a:r>
              <a:rPr lang="en-GB" b="1" dirty="0"/>
              <a:t>Tasks:</a:t>
            </a:r>
          </a:p>
          <a:p>
            <a:pPr marL="914400" lvl="1" indent="-457200">
              <a:buFont typeface="+mj-lt"/>
              <a:buAutoNum type="arabicPeriod"/>
            </a:pPr>
            <a:r>
              <a:rPr lang="en-GB">
                <a:latin typeface="Arial"/>
                <a:cs typeface="Arial"/>
              </a:rPr>
              <a:t>The business website – Establish two pain points and prototype</a:t>
            </a:r>
          </a:p>
          <a:p>
            <a:pPr marL="914400" lvl="1" indent="-457200">
              <a:buFont typeface="+mj-lt"/>
              <a:buAutoNum type="arabicPeriod"/>
            </a:pPr>
            <a:r>
              <a:rPr lang="en-GB">
                <a:latin typeface="Arial"/>
                <a:cs typeface="Arial"/>
              </a:rPr>
              <a:t>Review business mission, vision, and values. </a:t>
            </a:r>
          </a:p>
          <a:p>
            <a:pPr marL="914400" lvl="1" indent="-457200">
              <a:buFont typeface="+mj-lt"/>
              <a:buAutoNum type="arabicPeriod"/>
            </a:pPr>
            <a:r>
              <a:rPr lang="en-GB">
                <a:latin typeface="Arial"/>
                <a:cs typeface="Arial"/>
              </a:rPr>
              <a:t>Review all AI generators, analyse two.</a:t>
            </a:r>
          </a:p>
          <a:p>
            <a:pPr marL="914400" lvl="1" indent="-457200">
              <a:buAutoNum type="arabicPeriod"/>
            </a:pPr>
            <a:r>
              <a:rPr lang="en-GB">
                <a:latin typeface="Arial"/>
                <a:cs typeface="Arial"/>
              </a:rPr>
              <a:t>Perform usability testing and analyse the outcome.</a:t>
            </a:r>
          </a:p>
          <a:p>
            <a:pPr marL="914400" lvl="1" indent="-457200">
              <a:buFont typeface="+mj-lt"/>
              <a:buAutoNum type="arabicPeriod"/>
            </a:pPr>
            <a:r>
              <a:rPr lang="en-GB">
                <a:latin typeface="Arial"/>
                <a:cs typeface="Arial"/>
              </a:rPr>
              <a:t>Make suggestion to client after applying UX Strategies.</a:t>
            </a:r>
          </a:p>
          <a:p>
            <a:pPr marL="457200" lvl="1" indent="0">
              <a:buNone/>
            </a:pPr>
            <a:endParaRPr lang="en-GB" dirty="0"/>
          </a:p>
          <a:p>
            <a:pPr marL="914400" lvl="1" indent="-457200">
              <a:buFont typeface="+mj-lt"/>
              <a:buAutoNum type="arabicPeriod"/>
            </a:pPr>
            <a:endParaRPr lang="en-GB" b="1" dirty="0"/>
          </a:p>
          <a:p>
            <a:endParaRPr lang="en-GB" dirty="0"/>
          </a:p>
        </p:txBody>
      </p:sp>
    </p:spTree>
    <p:extLst>
      <p:ext uri="{BB962C8B-B14F-4D97-AF65-F5344CB8AC3E}">
        <p14:creationId xmlns:p14="http://schemas.microsoft.com/office/powerpoint/2010/main" val="2940292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Part 1 – Introduction to System</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fontScale="77500" lnSpcReduction="20000"/>
          </a:bodyPr>
          <a:lstStyle/>
          <a:p>
            <a:r>
              <a:rPr lang="en-GB" sz="2600" b="1" dirty="0"/>
              <a:t>Deliverable:</a:t>
            </a:r>
            <a:r>
              <a:rPr lang="en-GB" b="1" dirty="0"/>
              <a:t> </a:t>
            </a:r>
            <a:r>
              <a:rPr lang="en-GB" dirty="0"/>
              <a:t>1000 Words</a:t>
            </a:r>
          </a:p>
          <a:p>
            <a:r>
              <a:rPr lang="en-GB" sz="2600" b="1" dirty="0"/>
              <a:t>Content:</a:t>
            </a:r>
            <a:r>
              <a:rPr lang="en-GB" b="1" dirty="0"/>
              <a:t> </a:t>
            </a:r>
            <a:r>
              <a:rPr lang="en-GB" dirty="0"/>
              <a:t>Context and system overview. User types and frequency of use. Business goals and stakeholder requirements. Problem definition and importance. Feature comparison of existing systems.</a:t>
            </a:r>
            <a:endParaRPr lang="en-GB" b="1" dirty="0"/>
          </a:p>
          <a:p>
            <a:r>
              <a:rPr lang="en-GB" sz="2600" b="1" dirty="0"/>
              <a:t>Questions to Answer:</a:t>
            </a:r>
          </a:p>
          <a:p>
            <a:pPr lvl="1"/>
            <a:r>
              <a:rPr lang="en-US" dirty="0">
                <a:cs typeface="Calibri"/>
              </a:rPr>
              <a:t>What is the context?</a:t>
            </a:r>
          </a:p>
          <a:p>
            <a:pPr lvl="1"/>
            <a:r>
              <a:rPr lang="en-US" dirty="0">
                <a:cs typeface="Calibri"/>
              </a:rPr>
              <a:t>Who are the users? </a:t>
            </a:r>
          </a:p>
          <a:p>
            <a:pPr lvl="1"/>
            <a:r>
              <a:rPr lang="en-US" dirty="0">
                <a:cs typeface="Calibri"/>
              </a:rPr>
              <a:t>What is the system? </a:t>
            </a:r>
          </a:p>
          <a:p>
            <a:pPr lvl="1"/>
            <a:r>
              <a:rPr lang="en-US" dirty="0">
                <a:cs typeface="Calibri"/>
              </a:rPr>
              <a:t>What is the problem? </a:t>
            </a:r>
          </a:p>
          <a:p>
            <a:pPr lvl="1"/>
            <a:r>
              <a:rPr lang="en-US" dirty="0">
                <a:cs typeface="Calibri"/>
              </a:rPr>
              <a:t>Why is it important? </a:t>
            </a:r>
          </a:p>
          <a:p>
            <a:pPr lvl="1"/>
            <a:r>
              <a:rPr lang="en-US" dirty="0">
                <a:cs typeface="Calibri"/>
              </a:rPr>
              <a:t>Who should benefit from it? </a:t>
            </a:r>
          </a:p>
          <a:p>
            <a:pPr lvl="1"/>
            <a:r>
              <a:rPr lang="en-US" dirty="0">
                <a:cs typeface="Calibri"/>
              </a:rPr>
              <a:t>What impact does technology have on that context?</a:t>
            </a:r>
            <a:endParaRPr lang="en-GB" b="1" dirty="0"/>
          </a:p>
          <a:p>
            <a:endParaRPr lang="en-GB" dirty="0"/>
          </a:p>
        </p:txBody>
      </p:sp>
    </p:spTree>
    <p:extLst>
      <p:ext uri="{BB962C8B-B14F-4D97-AF65-F5344CB8AC3E}">
        <p14:creationId xmlns:p14="http://schemas.microsoft.com/office/powerpoint/2010/main" val="451618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Part 2 – User Research Analysis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a:bodyPr>
          <a:lstStyle/>
          <a:p>
            <a:r>
              <a:rPr lang="en-GB" sz="2600" b="1" dirty="0"/>
              <a:t>Deliverable:</a:t>
            </a:r>
            <a:r>
              <a:rPr lang="en-GB" b="1" dirty="0"/>
              <a:t> </a:t>
            </a:r>
            <a:r>
              <a:rPr lang="en-GB" dirty="0"/>
              <a:t>1000 Words</a:t>
            </a:r>
          </a:p>
          <a:p>
            <a:r>
              <a:rPr lang="en-GB" sz="2600" b="1" dirty="0"/>
              <a:t>Methods:</a:t>
            </a:r>
            <a:r>
              <a:rPr lang="en-GB" b="1" dirty="0"/>
              <a:t> </a:t>
            </a:r>
          </a:p>
          <a:p>
            <a:pPr lvl="1"/>
            <a:r>
              <a:rPr lang="en-GB" sz="2400" dirty="0"/>
              <a:t>Contextual Interviews: Observe users in their natural environment. </a:t>
            </a:r>
          </a:p>
          <a:p>
            <a:pPr lvl="1"/>
            <a:r>
              <a:rPr lang="en-GB" sz="2400" dirty="0"/>
              <a:t>Surveys: Collect data from multiple users.</a:t>
            </a:r>
          </a:p>
          <a:p>
            <a:r>
              <a:rPr lang="en-GB" sz="2600" b="1" dirty="0"/>
              <a:t>Content: </a:t>
            </a:r>
            <a:r>
              <a:rPr lang="en-GB" dirty="0"/>
              <a:t>User groups and attributes table (Demographics, Geographic, Psychographic, </a:t>
            </a:r>
            <a:r>
              <a:rPr lang="en-GB" dirty="0" err="1"/>
              <a:t>Behavioral</a:t>
            </a:r>
            <a:r>
              <a:rPr lang="en-GB" dirty="0"/>
              <a:t>). User needs table.</a:t>
            </a:r>
          </a:p>
          <a:p>
            <a:endParaRPr lang="en-GB" sz="2600" b="1" dirty="0"/>
          </a:p>
        </p:txBody>
      </p:sp>
    </p:spTree>
    <p:extLst>
      <p:ext uri="{BB962C8B-B14F-4D97-AF65-F5344CB8AC3E}">
        <p14:creationId xmlns:p14="http://schemas.microsoft.com/office/powerpoint/2010/main" val="1165321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Part 3 – User Journey</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fontScale="92500" lnSpcReduction="20000"/>
          </a:bodyPr>
          <a:lstStyle/>
          <a:p>
            <a:r>
              <a:rPr lang="en-GB" sz="2600" b="1" dirty="0"/>
              <a:t>Deliverable:</a:t>
            </a:r>
            <a:r>
              <a:rPr lang="en-GB" b="1" dirty="0"/>
              <a:t> </a:t>
            </a:r>
            <a:r>
              <a:rPr lang="en-GB" dirty="0"/>
              <a:t>Poster/Video</a:t>
            </a:r>
          </a:p>
          <a:p>
            <a:r>
              <a:rPr lang="en-GB" sz="2600" b="1" dirty="0"/>
              <a:t>Content:</a:t>
            </a:r>
            <a:r>
              <a:rPr lang="en-GB" b="1" dirty="0"/>
              <a:t> </a:t>
            </a:r>
          </a:p>
          <a:p>
            <a:pPr lvl="1"/>
            <a:r>
              <a:rPr lang="en-GB" dirty="0"/>
              <a:t>User Persona (Minimum 2 personas). </a:t>
            </a:r>
          </a:p>
          <a:p>
            <a:pPr lvl="1"/>
            <a:r>
              <a:rPr lang="en-GB" dirty="0"/>
              <a:t>User Scenario (Minimum 2). </a:t>
            </a:r>
          </a:p>
          <a:p>
            <a:pPr lvl="1"/>
            <a:r>
              <a:rPr lang="en-GB" dirty="0"/>
              <a:t>User Goals. </a:t>
            </a:r>
          </a:p>
          <a:p>
            <a:pPr lvl="1"/>
            <a:r>
              <a:rPr lang="en-GB" dirty="0"/>
              <a:t>Flow of Tasks/Information/Screens/Contents. </a:t>
            </a:r>
          </a:p>
          <a:p>
            <a:pPr lvl="1"/>
            <a:r>
              <a:rPr lang="en-GB" dirty="0"/>
              <a:t>Empathy Mapping. </a:t>
            </a:r>
          </a:p>
          <a:p>
            <a:pPr lvl="1"/>
            <a:r>
              <a:rPr lang="en-GB" dirty="0"/>
              <a:t>Usability Metrics.</a:t>
            </a:r>
          </a:p>
          <a:p>
            <a:r>
              <a:rPr lang="en-GB" sz="2600" b="1" dirty="0"/>
              <a:t>Requirement: </a:t>
            </a:r>
            <a:r>
              <a:rPr lang="en-US" dirty="0">
                <a:cs typeface="Calibri"/>
              </a:rPr>
              <a:t>Create a short video (no more than 5 minutes) explaining these elements.</a:t>
            </a:r>
            <a:endParaRPr lang="en-US" dirty="0">
              <a:ea typeface="Calibri"/>
              <a:cs typeface="Calibri"/>
            </a:endParaRPr>
          </a:p>
          <a:p>
            <a:endParaRPr lang="en-GB" dirty="0"/>
          </a:p>
        </p:txBody>
      </p:sp>
    </p:spTree>
    <p:extLst>
      <p:ext uri="{BB962C8B-B14F-4D97-AF65-F5344CB8AC3E}">
        <p14:creationId xmlns:p14="http://schemas.microsoft.com/office/powerpoint/2010/main" val="824900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Part 4 – Prototype</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fontScale="70000" lnSpcReduction="20000"/>
          </a:bodyPr>
          <a:lstStyle/>
          <a:p>
            <a:r>
              <a:rPr lang="en-GB" sz="2600" b="1" dirty="0"/>
              <a:t>Deliverable:</a:t>
            </a:r>
            <a:r>
              <a:rPr lang="en-GB" b="1" dirty="0"/>
              <a:t> </a:t>
            </a:r>
            <a:r>
              <a:rPr lang="en-GB" dirty="0"/>
              <a:t>Prototype</a:t>
            </a:r>
          </a:p>
          <a:p>
            <a:r>
              <a:rPr lang="en-GB" sz="2600" b="1" dirty="0"/>
              <a:t>Content:</a:t>
            </a:r>
            <a:r>
              <a:rPr lang="en-GB" b="1" dirty="0"/>
              <a:t> </a:t>
            </a:r>
            <a:r>
              <a:rPr lang="en-GB" dirty="0"/>
              <a:t>Create a prototype interface using a prototyping tool. Populate the prototype with example data to demonstrate functionality.</a:t>
            </a:r>
          </a:p>
          <a:p>
            <a:r>
              <a:rPr lang="en-GB" sz="2600" b="1" dirty="0"/>
              <a:t>Tools (Examples): </a:t>
            </a:r>
          </a:p>
          <a:p>
            <a:pPr lvl="1"/>
            <a:r>
              <a:rPr lang="en-GB" sz="2100" dirty="0" err="1"/>
              <a:t>UXPin</a:t>
            </a:r>
            <a:r>
              <a:rPr lang="en-GB" sz="2100" dirty="0"/>
              <a:t> </a:t>
            </a:r>
          </a:p>
          <a:p>
            <a:pPr lvl="1"/>
            <a:r>
              <a:rPr lang="en-GB" sz="2100" dirty="0"/>
              <a:t>Mockingbird </a:t>
            </a:r>
          </a:p>
          <a:p>
            <a:pPr lvl="1"/>
            <a:r>
              <a:rPr lang="en-GB" sz="2100" dirty="0" err="1"/>
              <a:t>FluidUI</a:t>
            </a:r>
            <a:endParaRPr lang="en-GB" sz="2100" dirty="0"/>
          </a:p>
          <a:p>
            <a:pPr lvl="1"/>
            <a:r>
              <a:rPr lang="en-GB" sz="2100" dirty="0" err="1"/>
              <a:t>ForeUI</a:t>
            </a:r>
            <a:endParaRPr lang="en-GB" sz="2100" dirty="0"/>
          </a:p>
          <a:p>
            <a:pPr lvl="1"/>
            <a:r>
              <a:rPr lang="en-GB" sz="2100" dirty="0" err="1"/>
              <a:t>HotGloo</a:t>
            </a:r>
            <a:endParaRPr lang="en-GB" sz="2100" dirty="0"/>
          </a:p>
          <a:p>
            <a:pPr lvl="1"/>
            <a:r>
              <a:rPr lang="en-GB" sz="2100" dirty="0" err="1"/>
              <a:t>Moqups</a:t>
            </a:r>
            <a:endParaRPr lang="en-GB" sz="2100" dirty="0"/>
          </a:p>
          <a:p>
            <a:pPr lvl="1"/>
            <a:r>
              <a:rPr lang="en-GB" sz="2100" dirty="0" err="1"/>
              <a:t>Justinmind</a:t>
            </a:r>
            <a:endParaRPr lang="en-GB" sz="2100" dirty="0"/>
          </a:p>
          <a:p>
            <a:r>
              <a:rPr lang="en-GB" sz="2600" b="1" dirty="0"/>
              <a:t>Presentation:</a:t>
            </a:r>
            <a:r>
              <a:rPr lang="en-GB" sz="2300" b="1" dirty="0"/>
              <a:t> </a:t>
            </a:r>
            <a:r>
              <a:rPr lang="en-GB" dirty="0"/>
              <a:t>Demonstrate the prototype during tutorial times. Ensure the prototype is accessible online for at least 90 days.</a:t>
            </a:r>
          </a:p>
          <a:p>
            <a:endParaRPr lang="en-GB" sz="2300" dirty="0"/>
          </a:p>
          <a:p>
            <a:endParaRPr lang="en-GB" sz="2600" b="1" dirty="0"/>
          </a:p>
        </p:txBody>
      </p:sp>
    </p:spTree>
    <p:extLst>
      <p:ext uri="{BB962C8B-B14F-4D97-AF65-F5344CB8AC3E}">
        <p14:creationId xmlns:p14="http://schemas.microsoft.com/office/powerpoint/2010/main" val="247464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Part 5 – Usability Testing</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fontScale="92500" lnSpcReduction="10000"/>
          </a:bodyPr>
          <a:lstStyle/>
          <a:p>
            <a:r>
              <a:rPr lang="en-GB" sz="2600" b="1" dirty="0"/>
              <a:t>Deliverable:</a:t>
            </a:r>
            <a:r>
              <a:rPr lang="en-GB" b="1" dirty="0"/>
              <a:t> </a:t>
            </a:r>
            <a:r>
              <a:rPr lang="en-GB" dirty="0"/>
              <a:t>1000 Words</a:t>
            </a:r>
          </a:p>
          <a:p>
            <a:pPr marL="0" indent="0">
              <a:buNone/>
            </a:pPr>
            <a:endParaRPr lang="en-GB" dirty="0"/>
          </a:p>
          <a:p>
            <a:r>
              <a:rPr lang="en-GB" sz="2600" b="1" dirty="0"/>
              <a:t>Metrics: </a:t>
            </a:r>
          </a:p>
          <a:p>
            <a:pPr lvl="1"/>
            <a:r>
              <a:rPr lang="en-GB" sz="2400" b="1" dirty="0"/>
              <a:t>Layout: </a:t>
            </a:r>
            <a:r>
              <a:rPr lang="en-GB" sz="2300" dirty="0"/>
              <a:t>Detection issues, aesthetic problems, unnecessary information. </a:t>
            </a:r>
          </a:p>
          <a:p>
            <a:pPr lvl="1"/>
            <a:r>
              <a:rPr lang="en-GB" sz="2400" b="1" dirty="0"/>
              <a:t>Terminology: </a:t>
            </a:r>
            <a:r>
              <a:rPr lang="en-GB" sz="2300" dirty="0"/>
              <a:t>Understanding terminology issues. </a:t>
            </a:r>
          </a:p>
          <a:p>
            <a:pPr lvl="1"/>
            <a:r>
              <a:rPr lang="en-GB" sz="2400" b="1" dirty="0"/>
              <a:t>Feedback: </a:t>
            </a:r>
            <a:r>
              <a:rPr lang="en-GB" sz="2300" dirty="0"/>
              <a:t>Relevant feedback consistency. </a:t>
            </a:r>
          </a:p>
          <a:p>
            <a:pPr lvl="1"/>
            <a:r>
              <a:rPr lang="en-GB" sz="2400" b="1" dirty="0"/>
              <a:t>Comprehension: </a:t>
            </a:r>
            <a:r>
              <a:rPr lang="en-GB" sz="2300" dirty="0"/>
              <a:t>Instruction clarity. </a:t>
            </a:r>
          </a:p>
          <a:p>
            <a:pPr lvl="1"/>
            <a:r>
              <a:rPr lang="en-GB" sz="2400" b="1" dirty="0"/>
              <a:t>Data Entry: </a:t>
            </a:r>
            <a:r>
              <a:rPr lang="en-GB" sz="2300" dirty="0"/>
              <a:t>Information entry problems. </a:t>
            </a:r>
          </a:p>
          <a:p>
            <a:pPr lvl="1"/>
            <a:r>
              <a:rPr lang="en-GB" sz="2400" b="1" dirty="0"/>
              <a:t>Navigation: </a:t>
            </a:r>
            <a:r>
              <a:rPr lang="en-GB" sz="2300" dirty="0"/>
              <a:t>Finding way around the system.</a:t>
            </a:r>
          </a:p>
          <a:p>
            <a:endParaRPr lang="en-GB" sz="2600" b="1" dirty="0"/>
          </a:p>
        </p:txBody>
      </p:sp>
    </p:spTree>
    <p:extLst>
      <p:ext uri="{BB962C8B-B14F-4D97-AF65-F5344CB8AC3E}">
        <p14:creationId xmlns:p14="http://schemas.microsoft.com/office/powerpoint/2010/main" val="2509015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Additional Resources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a:normAutofit fontScale="70000" lnSpcReduction="20000"/>
          </a:bodyPr>
          <a:lstStyle/>
          <a:p>
            <a:r>
              <a:rPr lang="en-GB" sz="2600" b="1" dirty="0"/>
              <a:t>Useful Links:</a:t>
            </a:r>
            <a:r>
              <a:rPr lang="en-GB" b="1" dirty="0"/>
              <a:t> </a:t>
            </a:r>
            <a:r>
              <a:rPr lang="en-GB" dirty="0"/>
              <a:t>Solent University Alumni Association: </a:t>
            </a:r>
            <a:r>
              <a:rPr lang="en-GB" dirty="0">
                <a:hlinkClick r:id="rId2"/>
              </a:rPr>
              <a:t>https://www.solent.ac.uk/alumni</a:t>
            </a:r>
            <a:endParaRPr lang="en-GB" dirty="0"/>
          </a:p>
          <a:p>
            <a:r>
              <a:rPr lang="en-GB" sz="2600" b="1" dirty="0"/>
              <a:t>Tools (Examples): </a:t>
            </a:r>
          </a:p>
          <a:p>
            <a:pPr lvl="1"/>
            <a:r>
              <a:rPr lang="en-GB" sz="1900" dirty="0" err="1"/>
              <a:t>UXPin</a:t>
            </a:r>
            <a:r>
              <a:rPr lang="en-GB" sz="1900" dirty="0"/>
              <a:t> </a:t>
            </a:r>
          </a:p>
          <a:p>
            <a:pPr lvl="1"/>
            <a:r>
              <a:rPr lang="en-GB" sz="1900" dirty="0"/>
              <a:t>Mockingbird </a:t>
            </a:r>
          </a:p>
          <a:p>
            <a:pPr lvl="1"/>
            <a:r>
              <a:rPr lang="en-GB" sz="1900" dirty="0" err="1"/>
              <a:t>FluidUI</a:t>
            </a:r>
            <a:endParaRPr lang="en-GB" sz="1900" dirty="0"/>
          </a:p>
          <a:p>
            <a:pPr lvl="1"/>
            <a:r>
              <a:rPr lang="en-GB" sz="1900" dirty="0" err="1"/>
              <a:t>ForeUI</a:t>
            </a:r>
            <a:endParaRPr lang="en-GB" sz="1900" dirty="0"/>
          </a:p>
          <a:p>
            <a:pPr lvl="1"/>
            <a:r>
              <a:rPr lang="en-GB" sz="1900" dirty="0" err="1"/>
              <a:t>HotGloo</a:t>
            </a:r>
            <a:endParaRPr lang="en-GB" sz="1900" dirty="0"/>
          </a:p>
          <a:p>
            <a:pPr lvl="1"/>
            <a:r>
              <a:rPr lang="en-GB" sz="1900" dirty="0" err="1"/>
              <a:t>Moqups</a:t>
            </a:r>
            <a:endParaRPr lang="en-GB" sz="1900" dirty="0"/>
          </a:p>
          <a:p>
            <a:pPr lvl="1"/>
            <a:r>
              <a:rPr lang="en-GB" sz="1900" dirty="0" err="1"/>
              <a:t>Justinmind</a:t>
            </a:r>
            <a:endParaRPr lang="en-GB" sz="1900" dirty="0"/>
          </a:p>
          <a:p>
            <a:r>
              <a:rPr lang="en-GB" sz="2600" b="1" dirty="0"/>
              <a:t>Reading Materials: </a:t>
            </a:r>
          </a:p>
          <a:p>
            <a:pPr marL="457200" lvl="1" indent="0">
              <a:buNone/>
            </a:pPr>
            <a:r>
              <a:rPr lang="en-GB" sz="2400" dirty="0"/>
              <a:t>LEVY, J., 2015. </a:t>
            </a:r>
            <a:r>
              <a:rPr lang="en-GB" sz="2400" i="1" dirty="0"/>
              <a:t>UX strategy : how to devise innovative digital products that people want</a:t>
            </a:r>
            <a:r>
              <a:rPr lang="en-GB" sz="2400" dirty="0"/>
              <a:t>. Sebastopol, California: O’Reilly</a:t>
            </a:r>
          </a:p>
          <a:p>
            <a:pPr marL="457200" lvl="1" indent="0">
              <a:buNone/>
            </a:pPr>
            <a:r>
              <a:rPr lang="en-GB" sz="2400" dirty="0"/>
              <a:t>KRUG, S., 2014. </a:t>
            </a:r>
            <a:r>
              <a:rPr lang="en-GB" sz="2400" i="1" dirty="0"/>
              <a:t>Don’t make me think, revisited : a common sense approach to web usability</a:t>
            </a:r>
            <a:r>
              <a:rPr lang="en-GB" sz="2400" dirty="0"/>
              <a:t>. Berkeley: New Riders</a:t>
            </a:r>
          </a:p>
          <a:p>
            <a:endParaRPr lang="en-GB" sz="2600" dirty="0"/>
          </a:p>
        </p:txBody>
      </p:sp>
    </p:spTree>
    <p:extLst>
      <p:ext uri="{BB962C8B-B14F-4D97-AF65-F5344CB8AC3E}">
        <p14:creationId xmlns:p14="http://schemas.microsoft.com/office/powerpoint/2010/main" val="2499948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Key takeaways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a:bodyPr>
          <a:lstStyle/>
          <a:p>
            <a:pPr marL="0" indent="0">
              <a:buNone/>
            </a:pPr>
            <a:r>
              <a:rPr lang="en-GB" dirty="0"/>
              <a:t>In today’s session, you learned more about the UX Strategies Assessment and its various components.</a:t>
            </a:r>
          </a:p>
          <a:p>
            <a:pPr marL="0" indent="0">
              <a:buNone/>
            </a:pPr>
            <a:br>
              <a:rPr lang="en-GB" dirty="0"/>
            </a:br>
            <a:r>
              <a:rPr lang="en-GB" dirty="0"/>
              <a:t>Next week, we’ll go into more depth on some of the individual parts of the Assessment.</a:t>
            </a:r>
            <a:endParaRPr lang="en-GB" dirty="0">
              <a:ea typeface="Calibri"/>
              <a:cs typeface="Calibri"/>
            </a:endParaRPr>
          </a:p>
        </p:txBody>
      </p:sp>
    </p:spTree>
    <p:extLst>
      <p:ext uri="{BB962C8B-B14F-4D97-AF65-F5344CB8AC3E}">
        <p14:creationId xmlns:p14="http://schemas.microsoft.com/office/powerpoint/2010/main" val="2552371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References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a:bodyPr>
          <a:lstStyle/>
          <a:p>
            <a:pPr>
              <a:lnSpc>
                <a:spcPct val="140000"/>
              </a:lnSpc>
              <a:buNone/>
            </a:pPr>
            <a:r>
              <a:rPr lang="en-GB" sz="1400" dirty="0"/>
              <a:t>INTERACTION DESIGN FOUNDATION – </a:t>
            </a:r>
            <a:r>
              <a:rPr lang="en-GB" sz="1400" dirty="0" err="1"/>
              <a:t>IxDF</a:t>
            </a:r>
            <a:r>
              <a:rPr lang="en-GB" sz="1400" dirty="0"/>
              <a:t>, 2020. </a:t>
            </a:r>
            <a:r>
              <a:rPr lang="en-GB" sz="1400" i="1" dirty="0"/>
              <a:t>UX / UI Topics. </a:t>
            </a:r>
            <a:r>
              <a:rPr lang="en-GB" sz="1400" dirty="0"/>
              <a:t>[viewed 09 June 2024]. Available from: </a:t>
            </a:r>
            <a:r>
              <a:rPr lang="en-GB" sz="1400" dirty="0">
                <a:hlinkClick r:id="rId2"/>
              </a:rPr>
              <a:t>https://www.interaction-design.org/literature/topics</a:t>
            </a:r>
            <a:r>
              <a:rPr lang="en-GB" sz="1400" dirty="0"/>
              <a:t>. </a:t>
            </a:r>
          </a:p>
          <a:p>
            <a:pPr marL="0" indent="0">
              <a:buNone/>
            </a:pPr>
            <a:r>
              <a:rPr lang="en-GB" sz="1400" dirty="0">
                <a:ea typeface="Verdana"/>
              </a:rPr>
              <a:t>FARRELL, S. 2017. UX Research Cheat Sheet. In </a:t>
            </a:r>
            <a:r>
              <a:rPr lang="en-GB" sz="1400" i="1" dirty="0">
                <a:ea typeface="Verdana"/>
              </a:rPr>
              <a:t>Norman Nielsen Group. </a:t>
            </a:r>
            <a:r>
              <a:rPr lang="en-GB" sz="1400" dirty="0">
                <a:ea typeface="Verdana"/>
              </a:rPr>
              <a:t>[viewed 09 June 2024] Available from: </a:t>
            </a:r>
            <a:r>
              <a:rPr lang="en-GB" sz="1400" dirty="0">
                <a:ea typeface="Verdana"/>
                <a:hlinkClick r:id="rId3"/>
              </a:rPr>
              <a:t>https://www.nngroup.com/articles/ux-research-cheat-sheet/</a:t>
            </a:r>
            <a:r>
              <a:rPr lang="en-GB" sz="1400" dirty="0">
                <a:ea typeface="Verdana"/>
              </a:rPr>
              <a:t>. </a:t>
            </a:r>
          </a:p>
          <a:p>
            <a:pPr marL="0" indent="0">
              <a:buNone/>
            </a:pPr>
            <a:r>
              <a:rPr lang="en-GB" sz="1400" dirty="0">
                <a:ea typeface="Verdana"/>
              </a:rPr>
              <a:t>COOPER, A., 1999. </a:t>
            </a:r>
            <a:r>
              <a:rPr lang="en-GB" sz="1400" i="1" dirty="0">
                <a:ea typeface="Verdana"/>
              </a:rPr>
              <a:t>The Inmates Are Running the Asylum: Why High Tech Products Drive Us Crazy and How to Restore the Sanity</a:t>
            </a:r>
            <a:r>
              <a:rPr lang="en-GB" sz="1400" dirty="0">
                <a:ea typeface="Verdana"/>
              </a:rPr>
              <a:t>. Sams.</a:t>
            </a:r>
          </a:p>
          <a:p>
            <a:pPr marL="0" indent="0">
              <a:buNone/>
            </a:pPr>
            <a:r>
              <a:rPr lang="en-GB" sz="1400" dirty="0">
                <a:ea typeface="Verdana"/>
              </a:rPr>
              <a:t>LEVY, J., 2015. </a:t>
            </a:r>
            <a:r>
              <a:rPr lang="en-GB" sz="1400" i="1" dirty="0">
                <a:ea typeface="Verdana"/>
              </a:rPr>
              <a:t>UX strategy : how to devise innovative digital products that people want</a:t>
            </a:r>
            <a:r>
              <a:rPr lang="en-GB" sz="1400" dirty="0">
                <a:ea typeface="Verdana"/>
              </a:rPr>
              <a:t>. Sebastopol, California: O’Reilly</a:t>
            </a:r>
          </a:p>
          <a:p>
            <a:pPr marL="0" indent="0">
              <a:buNone/>
            </a:pPr>
            <a:r>
              <a:rPr lang="en-GB" sz="1400" dirty="0">
                <a:ea typeface="Verdana"/>
              </a:rPr>
              <a:t>ROSENFELD, L., MORVILLE, P., and ARANGO, J., 2015. </a:t>
            </a:r>
            <a:r>
              <a:rPr lang="en-GB" sz="1400" i="1" dirty="0">
                <a:ea typeface="Verdana"/>
              </a:rPr>
              <a:t>Information Architecture for the Web and Beyond</a:t>
            </a:r>
            <a:r>
              <a:rPr lang="en-GB" sz="1400" dirty="0">
                <a:ea typeface="Verdana"/>
              </a:rPr>
              <a:t>. O'Reilly Media.</a:t>
            </a:r>
          </a:p>
          <a:p>
            <a:pPr marL="0" indent="0">
              <a:buNone/>
            </a:pPr>
            <a:r>
              <a:rPr lang="en-GB" sz="1400" dirty="0">
                <a:ea typeface="Verdana"/>
              </a:rPr>
              <a:t>KRUG, S., 2014. </a:t>
            </a:r>
            <a:r>
              <a:rPr lang="en-GB" sz="1400" i="1" dirty="0">
                <a:ea typeface="Verdana"/>
              </a:rPr>
              <a:t>Don't Make Me Think, Revisited: A Common Sense Approach to Web Usabilit</a:t>
            </a:r>
            <a:r>
              <a:rPr lang="en-GB" sz="1400" dirty="0">
                <a:ea typeface="Verdana"/>
              </a:rPr>
              <a:t>y. Berkeley: New Riders.</a:t>
            </a:r>
          </a:p>
          <a:p>
            <a:pPr marL="0" indent="0">
              <a:buNone/>
            </a:pPr>
            <a:r>
              <a:rPr lang="en-GB" sz="1400" dirty="0">
                <a:ea typeface="Verdana"/>
              </a:rPr>
              <a:t>KALBACH, J., 2016. </a:t>
            </a:r>
            <a:r>
              <a:rPr lang="en-GB" sz="1400" i="1" dirty="0">
                <a:ea typeface="Verdana"/>
              </a:rPr>
              <a:t>Mapping Experiences: A Complete Guide to Creating Value through Journeys, Blueprints, and Diagrams.</a:t>
            </a:r>
            <a:r>
              <a:rPr lang="en-GB" sz="1400" dirty="0">
                <a:ea typeface="Verdana"/>
              </a:rPr>
              <a:t> O'Reilly Media.</a:t>
            </a:r>
          </a:p>
        </p:txBody>
      </p:sp>
    </p:spTree>
    <p:extLst>
      <p:ext uri="{BB962C8B-B14F-4D97-AF65-F5344CB8AC3E}">
        <p14:creationId xmlns:p14="http://schemas.microsoft.com/office/powerpoint/2010/main" val="230731745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C71891C3A0F1E4097D718CB3CBB8576" ma:contentTypeVersion="30" ma:contentTypeDescription="Create a new document." ma:contentTypeScope="" ma:versionID="3fb9c967b62bf4d315c337a653705c8b">
  <xsd:schema xmlns:xsd="http://www.w3.org/2001/XMLSchema" xmlns:xs="http://www.w3.org/2001/XMLSchema" xmlns:p="http://schemas.microsoft.com/office/2006/metadata/properties" xmlns:ns2="c146334c-f196-4c85-90ef-f2308d7aa00b" xmlns:ns3="cd447e77-e15c-4fa0-938c-91439d6c39a0" targetNamespace="http://schemas.microsoft.com/office/2006/metadata/properties" ma:root="true" ma:fieldsID="0aedcd3a536fccbcb30952fae5ef482f" ns2:_="" ns3:_="">
    <xsd:import namespace="c146334c-f196-4c85-90ef-f2308d7aa00b"/>
    <xsd:import namespace="cd447e77-e15c-4fa0-938c-91439d6c39a0"/>
    <xsd:element name="properties">
      <xsd:complexType>
        <xsd:sequence>
          <xsd:element name="documentManagement">
            <xsd:complexType>
              <xsd:all>
                <xsd:element ref="ns2:LatestCCPhase" minOccurs="0"/>
                <xsd:element ref="ns2:LatestPublishingPhase" minOccurs="0"/>
                <xsd:element ref="ns2:NotesUpdates" minOccurs="0"/>
                <xsd:element ref="ns2:MediaServiceMetadata" minOccurs="0"/>
                <xsd:element ref="ns2:MediaServiceFastMetadata" minOccurs="0"/>
                <xsd:element ref="ns3:SharedWithUsers" minOccurs="0"/>
                <xsd:element ref="ns3:SharedWithDetails" minOccurs="0"/>
                <xsd:element ref="ns2:Status" minOccurs="0"/>
                <xsd:element ref="ns2:SubmissionDeadline" minOccurs="0"/>
                <xsd:element ref="ns2:ModuleStartsIn"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odule_x0020_Work_x0020_Requirement" minOccurs="0"/>
                <xsd:element ref="ns2:CompassFeedback" minOccurs="0"/>
                <xsd:element ref="ns2:Moodle_x002f_VLELink" minOccurs="0"/>
                <xsd:element ref="ns2:SubjectReviewer_x002c_ContentEditorPedagogicalBuilder" minOccurs="0"/>
                <xsd:element ref="ns2:ContentCreato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46334c-f196-4c85-90ef-f2308d7aa00b" elementFormDefault="qualified">
    <xsd:import namespace="http://schemas.microsoft.com/office/2006/documentManagement/types"/>
    <xsd:import namespace="http://schemas.microsoft.com/office/infopath/2007/PartnerControls"/>
    <xsd:element name="LatestCCPhase" ma:index="8" nillable="true" ma:displayName="Latest CC Phase" ma:description="This column contains updates on the work involving the Content Creator. The 'Latest CC Phase' can be chosen only when resources have been signed off by both Subject Reviewer and Content Editor." ma:format="Dropdown" ma:internalName="LatestCCPhase">
      <xsd:complexType>
        <xsd:complexContent>
          <xsd:extension base="dms:MultiChoice">
            <xsd:sequence>
              <xsd:element name="Value" maxOccurs="unbounded" minOccurs="0" nillable="true">
                <xsd:simpleType>
                  <xsd:restriction base="dms:Choice">
                    <xsd:enumeration value="Phase 1. Onboarding."/>
                    <xsd:enumeration value="Phase 2. Assessment Brief."/>
                    <xsd:enumeration value="Phase 3. Scheme of Work."/>
                    <xsd:enumeration value="Phase 4. Material building in progress"/>
                    <xsd:enumeration value="Phase 4. Week 1 Resources."/>
                    <xsd:enumeration value="Phase 4. Week 2 Resources."/>
                    <xsd:enumeration value="Phase 4 Week 3 Resources."/>
                    <xsd:enumeration value="Phase 4. Week 4 Resources."/>
                    <xsd:enumeration value="Phase 4. Week 5 Resources."/>
                    <xsd:enumeration value="Phase 4. Week 6 Resources."/>
                    <xsd:enumeration value="Phase 4. Week 7 Resources."/>
                    <xsd:enumeration value="Phase 4. Week 8 Resources."/>
                    <xsd:enumeration value="Phase 4. Week 9 Resources."/>
                    <xsd:enumeration value="Phase 4. Week 10 Resources."/>
                    <xsd:enumeration value="Phase 5. Payment processed."/>
                    <xsd:enumeration value="Phase 5. Material building completed"/>
                    <xsd:enumeration value="Phase 5. Feedback collected."/>
                    <xsd:enumeration value="ALL COMPLETED"/>
                  </xsd:restriction>
                </xsd:simpleType>
              </xsd:element>
            </xsd:sequence>
          </xsd:extension>
        </xsd:complexContent>
      </xsd:complexType>
    </xsd:element>
    <xsd:element name="LatestPublishingPhase" ma:index="9" nillable="true" ma:displayName="Latest Publishing Phase " ma:description="This column contains updates on the work involving Instructional Designer(s). Latest Publishing Phase can be chosen only once the work on this phase is completed." ma:format="Dropdown" ma:internalName="LatestPublishingPhase">
      <xsd:complexType>
        <xsd:complexContent>
          <xsd:extension base="dms:MultiChoice">
            <xsd:sequence>
              <xsd:element name="Value" maxOccurs="unbounded" minOccurs="0" nillable="true">
                <xsd:simpleType>
                  <xsd:restriction base="dms:Choice">
                    <xsd:enumeration value="Not due yet"/>
                    <xsd:enumeration value="Week 1 in Design"/>
                    <xsd:enumeration value="Week 1 on Moodle"/>
                    <xsd:enumeration value="Week 2 in Evolve"/>
                    <xsd:enumeration value="Week 2 on Moodle"/>
                    <xsd:enumeration value="Week 3 in Design"/>
                    <xsd:enumeration value="Week 3 on Moodle"/>
                    <xsd:enumeration value="Week 4 in Design"/>
                    <xsd:enumeration value="Week 4 on Moodle"/>
                    <xsd:enumeration value="Week 5 in Evolve"/>
                    <xsd:enumeration value="Week 5 on Moodle"/>
                    <xsd:enumeration value="Week 6 in Design"/>
                    <xsd:enumeration value="Week 6 on Moodle"/>
                    <xsd:enumeration value="Week 7 in Design"/>
                    <xsd:enumeration value="Week 7 on Moodle"/>
                    <xsd:enumeration value="Week 8 in Design"/>
                    <xsd:enumeration value="Week 8 on Moodle"/>
                    <xsd:enumeration value="Week 9 in Design"/>
                    <xsd:enumeration value="Week 9 on Moodle"/>
                    <xsd:enumeration value="Week 10 in Evolve"/>
                    <xsd:enumeration value="Week 10 on Moodle"/>
                    <xsd:enumeration value="Workshop in Design"/>
                    <xsd:enumeration value="Workshop on Moodle"/>
                  </xsd:restriction>
                </xsd:simpleType>
              </xsd:element>
            </xsd:sequence>
          </xsd:extension>
        </xsd:complexContent>
      </xsd:complexType>
    </xsd:element>
    <xsd:element name="NotesUpdates" ma:index="10" nillable="true" ma:displayName="Notes &amp; Updates" ma:format="Dropdown" ma:internalName="NotesUpdate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Status" ma:index="15" nillable="true" ma:displayName="Status" ma:format="Dropdown" ma:internalName="Status">
      <xsd:complexType>
        <xsd:complexContent>
          <xsd:extension base="dms:MultiChoice">
            <xsd:sequence>
              <xsd:element name="Value" maxOccurs="unbounded" minOccurs="0" nillable="true">
                <xsd:simpleType>
                  <xsd:restriction base="dms:Choice">
                    <xsd:enumeration value="Not yet due to start"/>
                    <xsd:enumeration value="Not yet started &amp; overdue"/>
                    <xsd:enumeration value="Work in progress &amp; on track"/>
                    <xsd:enumeration value="Work in progress &amp; overdue"/>
                    <xsd:enumeration value="Awaiting Full review"/>
                    <xsd:enumeration value="Awaiting SR review"/>
                    <xsd:enumeration value="Awaiting CE review"/>
                    <xsd:enumeration value="Awaiting PR review"/>
                    <xsd:enumeration value="Awaiting modifications"/>
                    <xsd:enumeration value="2nd Review required"/>
                    <xsd:enumeration value="SR approved"/>
                    <xsd:enumeration value="CE approved"/>
                    <xsd:enumeration value="With Instructional Designer"/>
                    <xsd:enumeration value="COMPLETED"/>
                    <xsd:enumeration value="Sent for scrutiny"/>
                    <xsd:enumeration value="On hold"/>
                    <xsd:enumeration value="No longer relevant"/>
                  </xsd:restriction>
                </xsd:simpleType>
              </xsd:element>
            </xsd:sequence>
          </xsd:extension>
        </xsd:complexContent>
      </xsd:complexType>
    </xsd:element>
    <xsd:element name="SubmissionDeadline" ma:index="16" nillable="true" ma:displayName="Submission Deadline" ma:format="DateOnly" ma:internalName="SubmissionDeadline">
      <xsd:simpleType>
        <xsd:restriction base="dms:DateTime"/>
      </xsd:simpleType>
    </xsd:element>
    <xsd:element name="ModuleStartsIn" ma:index="17" nillable="true" ma:displayName="Module Starts In" ma:format="Dropdown" ma:internalName="ModuleStartsIn">
      <xsd:complexType>
        <xsd:complexContent>
          <xsd:extension base="dms:MultiChoice">
            <xsd:sequence>
              <xsd:element name="Value" maxOccurs="unbounded" minOccurs="0" nillable="true">
                <xsd:simpleType>
                  <xsd:restriction base="dms:Choice">
                    <xsd:enumeration value="January 2024"/>
                    <xsd:enumeration value="April 2024"/>
                    <xsd:enumeration value="May 2024"/>
                    <xsd:enumeration value="June 2024"/>
                    <xsd:enumeration value="August 2024"/>
                    <xsd:enumeration value="October 2024"/>
                    <xsd:enumeration value="November 2024"/>
                    <xsd:enumeration value="TBC"/>
                    <xsd:enumeration value="April 2025"/>
                  </xsd:restriction>
                </xsd:simpleType>
              </xsd:element>
            </xsd:sequence>
          </xsd:extension>
        </xsd:complexContent>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element name="Module_x0020_Work_x0020_Requirement" ma:index="28" nillable="true" ma:displayName="Module Work Requirement" ma:format="Dropdown" ma:internalName="Module_x0020_Work_x0020_Requirement">
      <xsd:simpleType>
        <xsd:restriction base="dms:Choice">
          <xsd:enumeration value="Refurbish or Refurbishment"/>
          <xsd:enumeration value="Total rework"/>
        </xsd:restriction>
      </xsd:simpleType>
    </xsd:element>
    <xsd:element name="CompassFeedback" ma:index="29" nillable="true" ma:displayName="Compass Feedback" ma:format="Dropdown" ma:internalName="CompassFeedback">
      <xsd:complexType>
        <xsd:complexContent>
          <xsd:extension base="dms:MultiChoice">
            <xsd:sequence>
              <xsd:element name="Value" maxOccurs="unbounded" minOccurs="0" nillable="true">
                <xsd:simpleType>
                  <xsd:restriction base="dms:Choice">
                    <xsd:enumeration value="Given to CC"/>
                    <xsd:enumeration value="Given to SR"/>
                  </xsd:restriction>
                </xsd:simpleType>
              </xsd:element>
            </xsd:sequence>
          </xsd:extension>
        </xsd:complexContent>
      </xsd:complexType>
    </xsd:element>
    <xsd:element name="Moodle_x002f_VLELink" ma:index="30" nillable="true" ma:displayName="Moodle/VLE Link" ma:format="Hyperlink" ma:internalName="Moodle_x002f_VLELink">
      <xsd:complexType>
        <xsd:complexContent>
          <xsd:extension base="dms:URL">
            <xsd:sequence>
              <xsd:element name="Url" type="dms:ValidUrl" minOccurs="0" nillable="true"/>
              <xsd:element name="Description" type="xsd:string" nillable="true"/>
            </xsd:sequence>
          </xsd:extension>
        </xsd:complexContent>
      </xsd:complexType>
    </xsd:element>
    <xsd:element name="SubjectReviewer_x002c_ContentEditorPedagogicalBuilder" ma:index="31" nillable="true" ma:displayName="Subject Reviewer, Content Editor &amp; Pedagogical Builder" ma:format="Dropdown" ma:list="UserInfo" ma:SharePointGroup="0" ma:internalName="SubjectReviewer_x002c_ContentEditorPedagogicalBuilder">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Creators" ma:index="32" nillable="true" ma:displayName="Content Creators" ma:format="Dropdown" ma:list="UserInfo" ma:SharePointGroup="0" ma:internalName="ContentCreato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447e77-e15c-4fa0-938c-91439d6c39a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e4a00e5d-14fc-4527-bcc9-fb05b108b7f4}" ma:internalName="TaxCatchAll" ma:showField="CatchAllData" ma:web="cd447e77-e15c-4fa0-938c-91439d6c39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c146334c-f196-4c85-90ef-f2308d7aa00b" xsi:nil="true"/>
    <SubmissionDeadline xmlns="c146334c-f196-4c85-90ef-f2308d7aa00b" xsi:nil="true"/>
    <CompassFeedback xmlns="c146334c-f196-4c85-90ef-f2308d7aa00b" xsi:nil="true"/>
    <ContentCreators xmlns="c146334c-f196-4c85-90ef-f2308d7aa00b">
      <UserInfo>
        <DisplayName/>
        <AccountId xsi:nil="true"/>
        <AccountType/>
      </UserInfo>
    </ContentCreators>
    <Moodle_x002f_VLELink xmlns="c146334c-f196-4c85-90ef-f2308d7aa00b">
      <Url xsi:nil="true"/>
      <Description xsi:nil="true"/>
    </Moodle_x002f_VLELink>
    <Module_x0020_Work_x0020_Requirement xmlns="c146334c-f196-4c85-90ef-f2308d7aa00b" xsi:nil="true"/>
    <NotesUpdates xmlns="c146334c-f196-4c85-90ef-f2308d7aa00b" xsi:nil="true"/>
    <TaxCatchAll xmlns="cd447e77-e15c-4fa0-938c-91439d6c39a0" xsi:nil="true"/>
    <LatestCCPhase xmlns="c146334c-f196-4c85-90ef-f2308d7aa00b" xsi:nil="true"/>
    <lcf76f155ced4ddcb4097134ff3c332f xmlns="c146334c-f196-4c85-90ef-f2308d7aa00b">
      <Terms xmlns="http://schemas.microsoft.com/office/infopath/2007/PartnerControls"/>
    </lcf76f155ced4ddcb4097134ff3c332f>
    <SubjectReviewer_x002c_ContentEditorPedagogicalBuilder xmlns="c146334c-f196-4c85-90ef-f2308d7aa00b">
      <UserInfo>
        <DisplayName/>
        <AccountId xsi:nil="true"/>
        <AccountType/>
      </UserInfo>
    </SubjectReviewer_x002c_ContentEditorPedagogicalBuilder>
    <LatestPublishingPhase xmlns="c146334c-f196-4c85-90ef-f2308d7aa00b" xsi:nil="true"/>
    <ModuleStartsIn xmlns="c146334c-f196-4c85-90ef-f2308d7aa00b" xsi:nil="true"/>
  </documentManagement>
</p:properties>
</file>

<file path=customXml/itemProps1.xml><?xml version="1.0" encoding="utf-8"?>
<ds:datastoreItem xmlns:ds="http://schemas.openxmlformats.org/officeDocument/2006/customXml" ds:itemID="{676CCC70-4C46-4557-B4EE-F17B5196812A}">
  <ds:schemaRefs>
    <ds:schemaRef ds:uri="http://schemas.microsoft.com/sharepoint/v3/contenttype/forms"/>
  </ds:schemaRefs>
</ds:datastoreItem>
</file>

<file path=customXml/itemProps2.xml><?xml version="1.0" encoding="utf-8"?>
<ds:datastoreItem xmlns:ds="http://schemas.openxmlformats.org/officeDocument/2006/customXml" ds:itemID="{934F0B82-6600-4A79-AFA8-85F9277489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46334c-f196-4c85-90ef-f2308d7aa00b"/>
    <ds:schemaRef ds:uri="cd447e77-e15c-4fa0-938c-91439d6c39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9CB84C-BDEB-46A4-BD61-B62E8DCC0E1D}">
  <ds:schemaRefs>
    <ds:schemaRef ds:uri="http://schemas.microsoft.com/office/2006/metadata/properties"/>
    <ds:schemaRef ds:uri="http://schemas.microsoft.com/office/infopath/2007/PartnerControls"/>
    <ds:schemaRef ds:uri="c146334c-f196-4c85-90ef-f2308d7aa00b"/>
    <ds:schemaRef ds:uri="cd447e77-e15c-4fa0-938c-91439d6c39a0"/>
  </ds:schemaRefs>
</ds:datastoreItem>
</file>

<file path=docProps/app.xml><?xml version="1.0" encoding="utf-8"?>
<Properties xmlns="http://schemas.openxmlformats.org/officeDocument/2006/extended-properties" xmlns:vt="http://schemas.openxmlformats.org/officeDocument/2006/docPropsVTypes">
  <TotalTime>2</TotalTime>
  <Words>2045</Words>
  <Application>Microsoft Office PowerPoint</Application>
  <PresentationFormat>Widescreen</PresentationFormat>
  <Paragraphs>175</Paragraphs>
  <Slides>21</Slides>
  <Notes>7</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1_Office Theme</vt:lpstr>
      <vt:lpstr>Applying UX Strategy in Real Scenarios</vt:lpstr>
      <vt:lpstr>Session Outline</vt:lpstr>
      <vt:lpstr>Activity 1 - Introduction: 5 mins</vt:lpstr>
      <vt:lpstr>Activity 1 - Instructions</vt:lpstr>
      <vt:lpstr>Feedback - Persona</vt:lpstr>
      <vt:lpstr>Feedback – Journey Mapping</vt:lpstr>
      <vt:lpstr>Feedback - Wireframe</vt:lpstr>
      <vt:lpstr>Feedback – Usability Testing Plan </vt:lpstr>
      <vt:lpstr>Session recap</vt:lpstr>
      <vt:lpstr>References</vt:lpstr>
      <vt:lpstr>Assessment Clinic</vt:lpstr>
      <vt:lpstr>Session Outline</vt:lpstr>
      <vt:lpstr>UX Strategies Assessment Task</vt:lpstr>
      <vt:lpstr>Part 1 – Introduction to System</vt:lpstr>
      <vt:lpstr>Part 2 – User Research Analysis</vt:lpstr>
      <vt:lpstr>Part 3 – User Journey</vt:lpstr>
      <vt:lpstr>Part 4 – Prototype</vt:lpstr>
      <vt:lpstr>Part 5 – Usability Testing</vt:lpstr>
      <vt:lpstr>Additional Resources</vt:lpstr>
      <vt:lpstr>Key takeaways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Fisher, John</dc:creator>
  <cp:lastModifiedBy>Fisher, John</cp:lastModifiedBy>
  <cp:revision>41</cp:revision>
  <dcterms:created xsi:type="dcterms:W3CDTF">2024-06-21T09:56:46Z</dcterms:created>
  <dcterms:modified xsi:type="dcterms:W3CDTF">2024-10-22T16:06:40Z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0x0101009C71891C3A0F1E4097D718CB3CBB8576</vt:lpwstr>
  </property>
</Properties>
</file>